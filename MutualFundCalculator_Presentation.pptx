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6" r:id="rId1"/>
  </p:sldMasterIdLst>
  <p:notesMasterIdLst>
    <p:notesMasterId r:id="rId13"/>
  </p:notesMasterIdLst>
  <p:sldIdLst>
    <p:sldId id="313" r:id="rId2"/>
    <p:sldId id="309" r:id="rId3"/>
    <p:sldId id="301" r:id="rId4"/>
    <p:sldId id="302" r:id="rId5"/>
    <p:sldId id="303" r:id="rId6"/>
    <p:sldId id="304" r:id="rId7"/>
    <p:sldId id="305" r:id="rId8"/>
    <p:sldId id="306" r:id="rId9"/>
    <p:sldId id="307" r:id="rId10"/>
    <p:sldId id="308" r:id="rId11"/>
    <p:sldId id="310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64"/>
    <p:restoredTop sz="94610"/>
  </p:normalViewPr>
  <p:slideViewPr>
    <p:cSldViewPr snapToGrid="0" snapToObjects="1">
      <p:cViewPr>
        <p:scale>
          <a:sx n="109" d="100"/>
          <a:sy n="109" d="100"/>
        </p:scale>
        <p:origin x="1624" y="11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45692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00355F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rgbClr val="231F20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rgbClr val="2C3E5A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rgbClr val="2C3E5A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rgbClr val="2C3E5A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rgbClr val="2C3E5A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>
          <a:solidFill>
            <a:srgbClr val="2C3E5A"/>
          </a:solidFill>
        </a:defRPr>
      </a:defPPr>
      <a:lvl1pPr marL="0" algn="l" defTabSz="914400" rtl="0" eaLnBrk="1" latinLnBrk="0" hangingPunct="1">
        <a:defRPr sz="1800" kern="1200">
          <a:solidFill>
            <a:srgbClr val="2C3E5A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rgbClr val="2C3E5A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rgbClr val="2C3E5A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rgbClr val="2C3E5A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rgbClr val="2C3E5A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E74BD39-3530-6C46-8CF2-B9F09FEC329D}"/>
              </a:ext>
            </a:extLst>
          </p:cNvPr>
          <p:cNvSpPr txBox="1"/>
          <p:nvPr/>
        </p:nvSpPr>
        <p:spPr>
          <a:xfrm>
            <a:off x="381000" y="342900"/>
            <a:ext cx="7493000" cy="43088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200" b="1" dirty="0">
                <a:solidFill>
                  <a:srgbClr val="00355F"/>
                </a:solidFill>
                <a:latin typeface="Arial"/>
                <a:cs typeface="Arial"/>
              </a:rPr>
              <a:t>Meet the Team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22F8DB-69AA-9A4F-B655-B3E70D9FC654}"/>
              </a:ext>
            </a:extLst>
          </p:cNvPr>
          <p:cNvSpPr txBox="1"/>
          <p:nvPr/>
        </p:nvSpPr>
        <p:spPr>
          <a:xfrm>
            <a:off x="8826500" y="4762500"/>
            <a:ext cx="254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7399C6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53BBD8-4429-F246-85DA-F422E67A3EF8}"/>
              </a:ext>
            </a:extLst>
          </p:cNvPr>
          <p:cNvSpPr txBox="1"/>
          <p:nvPr/>
        </p:nvSpPr>
        <p:spPr>
          <a:xfrm>
            <a:off x="0" y="773787"/>
            <a:ext cx="91440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n-US" sz="1600" b="1" dirty="0">
                <a:solidFill>
                  <a:srgbClr val="00355F"/>
                </a:solidFill>
                <a:latin typeface="Arial"/>
                <a:cs typeface="Arial"/>
              </a:rPr>
              <a:t>Mentors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CAE4D40-1560-374D-9300-91E27B13368E}"/>
              </a:ext>
            </a:extLst>
          </p:cNvPr>
          <p:cNvSpPr/>
          <p:nvPr/>
        </p:nvSpPr>
        <p:spPr>
          <a:xfrm>
            <a:off x="2857500" y="1166058"/>
            <a:ext cx="889000" cy="889000"/>
          </a:xfrm>
          <a:prstGeom prst="ellipse">
            <a:avLst/>
          </a:prstGeom>
          <a:solidFill>
            <a:srgbClr val="7399C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9DFA7B3-59FC-0B40-A451-2289DA23BCFB}"/>
              </a:ext>
            </a:extLst>
          </p:cNvPr>
          <p:cNvSpPr txBox="1"/>
          <p:nvPr/>
        </p:nvSpPr>
        <p:spPr>
          <a:xfrm>
            <a:off x="2540000" y="2118558"/>
            <a:ext cx="1524000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 dirty="0">
                <a:solidFill>
                  <a:schemeClr val="accent1"/>
                </a:solidFill>
                <a:latin typeface="Arial"/>
                <a:cs typeface="Arial"/>
              </a:rPr>
              <a:t>Mentor Name 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855521-F16C-F343-8F9C-C2C2CA45AEFA}"/>
              </a:ext>
            </a:extLst>
          </p:cNvPr>
          <p:cNvSpPr txBox="1"/>
          <p:nvPr/>
        </p:nvSpPr>
        <p:spPr>
          <a:xfrm>
            <a:off x="2540000" y="2359858"/>
            <a:ext cx="1524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58575A"/>
                </a:solidFill>
                <a:latin typeface="Arial"/>
                <a:cs typeface="Arial"/>
              </a:rPr>
              <a:t>Title / Role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9F19A2C-605F-654F-A02D-CE2924DF24E4}"/>
              </a:ext>
            </a:extLst>
          </p:cNvPr>
          <p:cNvSpPr/>
          <p:nvPr/>
        </p:nvSpPr>
        <p:spPr>
          <a:xfrm>
            <a:off x="5397500" y="1166058"/>
            <a:ext cx="889000" cy="889000"/>
          </a:xfrm>
          <a:prstGeom prst="ellipse">
            <a:avLst/>
          </a:prstGeom>
          <a:solidFill>
            <a:srgbClr val="7399C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67A03B9-FD6E-5C42-9A06-8A705FA0FDD9}"/>
              </a:ext>
            </a:extLst>
          </p:cNvPr>
          <p:cNvSpPr txBox="1"/>
          <p:nvPr/>
        </p:nvSpPr>
        <p:spPr>
          <a:xfrm>
            <a:off x="5080000" y="2118558"/>
            <a:ext cx="1524000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 dirty="0">
                <a:solidFill>
                  <a:schemeClr val="accent1"/>
                </a:solidFill>
                <a:latin typeface="Arial"/>
                <a:cs typeface="Arial"/>
              </a:rPr>
              <a:t>Mentor Name 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F09A415-9806-AB41-B0C1-642FD6CE7CE0}"/>
              </a:ext>
            </a:extLst>
          </p:cNvPr>
          <p:cNvSpPr txBox="1"/>
          <p:nvPr/>
        </p:nvSpPr>
        <p:spPr>
          <a:xfrm>
            <a:off x="5080000" y="2359858"/>
            <a:ext cx="1524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58575A"/>
                </a:solidFill>
                <a:latin typeface="Arial"/>
                <a:cs typeface="Arial"/>
              </a:rPr>
              <a:t>Title / Role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BC69998-2267-6747-A9C8-27E1AC7CF107}"/>
              </a:ext>
            </a:extLst>
          </p:cNvPr>
          <p:cNvSpPr/>
          <p:nvPr/>
        </p:nvSpPr>
        <p:spPr>
          <a:xfrm>
            <a:off x="381000" y="2766456"/>
            <a:ext cx="8382000" cy="1905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3FCBEBD-16F8-5B47-AA5C-D14135F79218}"/>
              </a:ext>
            </a:extLst>
          </p:cNvPr>
          <p:cNvSpPr txBox="1"/>
          <p:nvPr/>
        </p:nvSpPr>
        <p:spPr>
          <a:xfrm>
            <a:off x="0" y="2896631"/>
            <a:ext cx="91440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n-US" sz="1600" b="1" dirty="0">
                <a:solidFill>
                  <a:srgbClr val="00355F"/>
                </a:solidFill>
                <a:latin typeface="Arial"/>
                <a:cs typeface="Arial"/>
              </a:rPr>
              <a:t>Students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79829B9-3A64-5548-A443-4D05D18C79E8}"/>
              </a:ext>
            </a:extLst>
          </p:cNvPr>
          <p:cNvSpPr/>
          <p:nvPr/>
        </p:nvSpPr>
        <p:spPr>
          <a:xfrm>
            <a:off x="889000" y="3188731"/>
            <a:ext cx="889000" cy="889000"/>
          </a:xfrm>
          <a:prstGeom prst="ellipse">
            <a:avLst/>
          </a:prstGeom>
          <a:solidFill>
            <a:srgbClr val="ACD4F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3C4FA55-574B-4641-985E-437571AF0114}"/>
              </a:ext>
            </a:extLst>
          </p:cNvPr>
          <p:cNvSpPr txBox="1"/>
          <p:nvPr/>
        </p:nvSpPr>
        <p:spPr>
          <a:xfrm>
            <a:off x="571500" y="4141231"/>
            <a:ext cx="1524000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 dirty="0">
                <a:solidFill>
                  <a:schemeClr val="accent1"/>
                </a:solidFill>
                <a:latin typeface="Arial"/>
                <a:cs typeface="Arial"/>
              </a:rPr>
              <a:t>Aarsh Roongta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2CDD519-63CF-E048-AD36-C7DB936FC518}"/>
              </a:ext>
            </a:extLst>
          </p:cNvPr>
          <p:cNvSpPr txBox="1"/>
          <p:nvPr/>
        </p:nvSpPr>
        <p:spPr>
          <a:xfrm>
            <a:off x="571500" y="4382531"/>
            <a:ext cx="1524000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dirty="0">
                <a:solidFill>
                  <a:srgbClr val="58575A"/>
                </a:solidFill>
                <a:latin typeface="Arial"/>
                <a:cs typeface="Arial"/>
              </a:rPr>
              <a:t>Duke University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33A43D07-ABB7-8C4D-92BF-3E8420986D3C}"/>
              </a:ext>
            </a:extLst>
          </p:cNvPr>
          <p:cNvSpPr/>
          <p:nvPr/>
        </p:nvSpPr>
        <p:spPr>
          <a:xfrm>
            <a:off x="3048000" y="3188731"/>
            <a:ext cx="889000" cy="889000"/>
          </a:xfrm>
          <a:prstGeom prst="ellipse">
            <a:avLst/>
          </a:prstGeom>
          <a:solidFill>
            <a:srgbClr val="ACD4F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86B0166-AE7F-9842-AD65-604C06A25D6A}"/>
              </a:ext>
            </a:extLst>
          </p:cNvPr>
          <p:cNvSpPr txBox="1"/>
          <p:nvPr/>
        </p:nvSpPr>
        <p:spPr>
          <a:xfrm>
            <a:off x="2730500" y="4141231"/>
            <a:ext cx="1524000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 dirty="0">
                <a:solidFill>
                  <a:schemeClr val="accent1"/>
                </a:solidFill>
                <a:latin typeface="Arial"/>
                <a:cs typeface="Arial"/>
              </a:rPr>
              <a:t>Student Name 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8107DE3-59FD-A948-A69E-47D24263A74E}"/>
              </a:ext>
            </a:extLst>
          </p:cNvPr>
          <p:cNvSpPr txBox="1"/>
          <p:nvPr/>
        </p:nvSpPr>
        <p:spPr>
          <a:xfrm>
            <a:off x="2730500" y="4382531"/>
            <a:ext cx="1524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58575A"/>
                </a:solidFill>
                <a:latin typeface="Arial"/>
                <a:cs typeface="Arial"/>
              </a:rPr>
              <a:t>University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ED417525-A4A5-6249-8298-F33565E39081}"/>
              </a:ext>
            </a:extLst>
          </p:cNvPr>
          <p:cNvSpPr/>
          <p:nvPr/>
        </p:nvSpPr>
        <p:spPr>
          <a:xfrm>
            <a:off x="5207000" y="3188731"/>
            <a:ext cx="889000" cy="889000"/>
          </a:xfrm>
          <a:prstGeom prst="ellipse">
            <a:avLst/>
          </a:prstGeom>
          <a:solidFill>
            <a:srgbClr val="ACD4F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E7321D0-70CF-9249-89EC-F9324EAF75C7}"/>
              </a:ext>
            </a:extLst>
          </p:cNvPr>
          <p:cNvSpPr txBox="1"/>
          <p:nvPr/>
        </p:nvSpPr>
        <p:spPr>
          <a:xfrm>
            <a:off x="4889500" y="4141231"/>
            <a:ext cx="1524000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 dirty="0">
                <a:solidFill>
                  <a:schemeClr val="accent1"/>
                </a:solidFill>
                <a:latin typeface="Arial"/>
                <a:cs typeface="Arial"/>
              </a:rPr>
              <a:t>Student Name 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EF56CCB-CCE1-894D-9142-F117D45C7480}"/>
              </a:ext>
            </a:extLst>
          </p:cNvPr>
          <p:cNvSpPr txBox="1"/>
          <p:nvPr/>
        </p:nvSpPr>
        <p:spPr>
          <a:xfrm>
            <a:off x="4889500" y="4382531"/>
            <a:ext cx="1524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58575A"/>
                </a:solidFill>
                <a:latin typeface="Arial"/>
                <a:cs typeface="Arial"/>
              </a:rPr>
              <a:t>University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B8DC26A7-65D6-224B-A600-3B5AEE9F3F12}"/>
              </a:ext>
            </a:extLst>
          </p:cNvPr>
          <p:cNvSpPr/>
          <p:nvPr/>
        </p:nvSpPr>
        <p:spPr>
          <a:xfrm>
            <a:off x="7366000" y="3188731"/>
            <a:ext cx="889000" cy="889000"/>
          </a:xfrm>
          <a:prstGeom prst="ellipse">
            <a:avLst/>
          </a:prstGeom>
          <a:solidFill>
            <a:srgbClr val="ACD4F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5D5A1BB-342E-D24F-8A59-35453BB65ECC}"/>
              </a:ext>
            </a:extLst>
          </p:cNvPr>
          <p:cNvSpPr txBox="1"/>
          <p:nvPr/>
        </p:nvSpPr>
        <p:spPr>
          <a:xfrm>
            <a:off x="7048500" y="4141231"/>
            <a:ext cx="1524000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 dirty="0">
                <a:solidFill>
                  <a:schemeClr val="accent1"/>
                </a:solidFill>
                <a:latin typeface="Arial"/>
                <a:cs typeface="Arial"/>
              </a:rPr>
              <a:t>Student Name 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23C72D3-EBF9-4A44-8F05-881382972D8D}"/>
              </a:ext>
            </a:extLst>
          </p:cNvPr>
          <p:cNvSpPr txBox="1"/>
          <p:nvPr/>
        </p:nvSpPr>
        <p:spPr>
          <a:xfrm>
            <a:off x="7048500" y="4382531"/>
            <a:ext cx="1524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58575A"/>
                </a:solidFill>
                <a:latin typeface="Arial"/>
                <a:cs typeface="Arial"/>
              </a:rPr>
              <a:t>University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FE027B38-5480-2F4C-3286-A7069C3B46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342900"/>
            <a:ext cx="698500" cy="392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95782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3811071-A9E8-E34D-AF94-659FD7594164}"/>
              </a:ext>
            </a:extLst>
          </p:cNvPr>
          <p:cNvSpPr/>
          <p:nvPr/>
        </p:nvSpPr>
        <p:spPr>
          <a:xfrm>
            <a:off x="0" y="0"/>
            <a:ext cx="3619500" cy="5143500"/>
          </a:xfrm>
          <a:prstGeom prst="rect">
            <a:avLst/>
          </a:prstGeom>
          <a:solidFill>
            <a:srgbClr val="00355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A2A8816-DDDE-A34C-9FDC-F1DAFB80081F}"/>
              </a:ext>
            </a:extLst>
          </p:cNvPr>
          <p:cNvSpPr/>
          <p:nvPr/>
        </p:nvSpPr>
        <p:spPr>
          <a:xfrm>
            <a:off x="3600450" y="571500"/>
            <a:ext cx="19050" cy="4000500"/>
          </a:xfrm>
          <a:prstGeom prst="rect">
            <a:avLst/>
          </a:prstGeom>
          <a:solidFill>
            <a:srgbClr val="7399C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200D1E-1A68-8C42-93C8-AE9155B76C47}"/>
              </a:ext>
            </a:extLst>
          </p:cNvPr>
          <p:cNvSpPr txBox="1"/>
          <p:nvPr/>
        </p:nvSpPr>
        <p:spPr>
          <a:xfrm>
            <a:off x="381000" y="1619250"/>
            <a:ext cx="28575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>
                <a:solidFill>
                  <a:srgbClr val="FFFFFF"/>
                </a:solidFill>
                <a:latin typeface="Arial"/>
              </a:rPr>
              <a:t>Goldman Sachs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F2E409-AD96-DB44-A7F4-B5CBD23648E8}"/>
              </a:ext>
            </a:extLst>
          </p:cNvPr>
          <p:cNvSpPr txBox="1"/>
          <p:nvPr/>
        </p:nvSpPr>
        <p:spPr>
          <a:xfrm>
            <a:off x="381000" y="2047875"/>
            <a:ext cx="2857500" cy="28575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8C9BAA"/>
                </a:solidFill>
                <a:latin typeface="Arial"/>
                <a:cs typeface="Arial"/>
              </a:rPr>
              <a:t>Emerging Leaders Series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206B3A-5377-D845-9B7F-2756133A2C46}"/>
              </a:ext>
            </a:extLst>
          </p:cNvPr>
          <p:cNvSpPr txBox="1"/>
          <p:nvPr/>
        </p:nvSpPr>
        <p:spPr>
          <a:xfrm>
            <a:off x="4000500" y="1095375"/>
            <a:ext cx="4762500" cy="152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300" b="1">
                <a:solidFill>
                  <a:srgbClr val="0A1628"/>
                </a:solidFill>
                <a:latin typeface="Arial"/>
              </a:rPr>
              <a:t>Mutual Fund
Calculator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B45256D-4882-304B-ABCC-16C1A1AF6C27}"/>
              </a:ext>
            </a:extLst>
          </p:cNvPr>
          <p:cNvSpPr/>
          <p:nvPr/>
        </p:nvSpPr>
        <p:spPr>
          <a:xfrm>
            <a:off x="4000500" y="2667000"/>
            <a:ext cx="952500" cy="23812"/>
          </a:xfrm>
          <a:prstGeom prst="rect">
            <a:avLst/>
          </a:prstGeom>
          <a:solidFill>
            <a:srgbClr val="7399C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BD8F6E-1374-A246-B9A9-A6C1A940303B}"/>
              </a:ext>
            </a:extLst>
          </p:cNvPr>
          <p:cNvSpPr txBox="1"/>
          <p:nvPr/>
        </p:nvSpPr>
        <p:spPr>
          <a:xfrm>
            <a:off x="4000500" y="2838450"/>
            <a:ext cx="4572000" cy="571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2C3E5A"/>
                </a:solidFill>
                <a:latin typeface="Arial"/>
                <a:cs typeface="Arial"/>
              </a:rPr>
              <a:t>Predict, Analyze, and Optimize
Your Investment Portfolio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587A98-3A15-8045-8944-730106FCD93D}"/>
              </a:ext>
            </a:extLst>
          </p:cNvPr>
          <p:cNvSpPr txBox="1"/>
          <p:nvPr/>
        </p:nvSpPr>
        <p:spPr>
          <a:xfrm>
            <a:off x="4000500" y="3714750"/>
            <a:ext cx="1905000" cy="23812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6B8299"/>
                </a:solidFill>
                <a:latin typeface="Arial"/>
                <a:cs typeface="Arial"/>
              </a:rPr>
              <a:t>Group 11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234BC2F-5EEE-DB24-0758-7E355DB73A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342900"/>
            <a:ext cx="698500" cy="392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43973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F2CE0A8-E1B9-B541-B962-405F69BE4842}"/>
              </a:ext>
            </a:extLst>
          </p:cNvPr>
          <p:cNvSpPr txBox="1"/>
          <p:nvPr/>
        </p:nvSpPr>
        <p:spPr>
          <a:xfrm>
            <a:off x="381000" y="342900"/>
            <a:ext cx="3810000" cy="43088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buNone/>
            </a:pPr>
            <a:r>
              <a:rPr lang="en-US" sz="2200" b="1" dirty="0">
                <a:solidFill>
                  <a:srgbClr val="00355F"/>
                </a:solidFill>
                <a:latin typeface="Arial"/>
              </a:rPr>
              <a:t>The Challenge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02AC46-0B03-8C45-9648-CF3A29B8B334}"/>
              </a:ext>
            </a:extLst>
          </p:cNvPr>
          <p:cNvSpPr txBox="1"/>
          <p:nvPr/>
        </p:nvSpPr>
        <p:spPr>
          <a:xfrm>
            <a:off x="571500" y="1381125"/>
            <a:ext cx="2476500" cy="66675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600" b="1">
                <a:solidFill>
                  <a:srgbClr val="003A70"/>
                </a:solidFill>
                <a:latin typeface="Arial"/>
              </a:rPr>
              <a:t>78%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8062919-7713-BD41-9D07-3B6631F1949C}"/>
              </a:ext>
            </a:extLst>
          </p:cNvPr>
          <p:cNvSpPr/>
          <p:nvPr/>
        </p:nvSpPr>
        <p:spPr>
          <a:xfrm>
            <a:off x="571500" y="2143125"/>
            <a:ext cx="381000" cy="19050"/>
          </a:xfrm>
          <a:prstGeom prst="rect">
            <a:avLst/>
          </a:prstGeom>
          <a:solidFill>
            <a:srgbClr val="7399C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D7C443-B84F-584A-A6B7-096EC6CCFD04}"/>
              </a:ext>
            </a:extLst>
          </p:cNvPr>
          <p:cNvSpPr txBox="1"/>
          <p:nvPr/>
        </p:nvSpPr>
        <p:spPr>
          <a:xfrm>
            <a:off x="571500" y="2286000"/>
            <a:ext cx="2476500" cy="952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2C3E5A"/>
                </a:solidFill>
                <a:latin typeface="Arial"/>
                <a:cs typeface="Arial"/>
              </a:rPr>
              <a:t>of retail investors do not
understand portfolio beta
and market risk factors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D317F5-7922-9943-A760-FCDF46684B02}"/>
              </a:ext>
            </a:extLst>
          </p:cNvPr>
          <p:cNvSpPr txBox="1"/>
          <p:nvPr/>
        </p:nvSpPr>
        <p:spPr>
          <a:xfrm>
            <a:off x="3333750" y="1381125"/>
            <a:ext cx="2476500" cy="66675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600" b="1">
                <a:solidFill>
                  <a:srgbClr val="003A70"/>
                </a:solidFill>
                <a:latin typeface="Arial"/>
              </a:rPr>
              <a:t>$4.7T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A09BEFD-8B8D-FA41-B7BF-71A40384B735}"/>
              </a:ext>
            </a:extLst>
          </p:cNvPr>
          <p:cNvSpPr/>
          <p:nvPr/>
        </p:nvSpPr>
        <p:spPr>
          <a:xfrm>
            <a:off x="3333750" y="2143125"/>
            <a:ext cx="381000" cy="19050"/>
          </a:xfrm>
          <a:prstGeom prst="rect">
            <a:avLst/>
          </a:prstGeom>
          <a:solidFill>
            <a:srgbClr val="7399C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B51B9F-B68C-1D41-AEC4-E4FED73F31EB}"/>
              </a:ext>
            </a:extLst>
          </p:cNvPr>
          <p:cNvSpPr txBox="1"/>
          <p:nvPr/>
        </p:nvSpPr>
        <p:spPr>
          <a:xfrm>
            <a:off x="3333750" y="2286000"/>
            <a:ext cx="2476500" cy="952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2C3E5A"/>
                </a:solidFill>
                <a:latin typeface="Arial"/>
                <a:cs typeface="Arial"/>
              </a:rPr>
              <a:t>invested in U.S. mutual
funds with limited access
to analytical tools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AE62D0E-3DC0-5C46-901C-D8B996D5C03B}"/>
              </a:ext>
            </a:extLst>
          </p:cNvPr>
          <p:cNvSpPr txBox="1"/>
          <p:nvPr/>
        </p:nvSpPr>
        <p:spPr>
          <a:xfrm>
            <a:off x="6096000" y="1381125"/>
            <a:ext cx="2476500" cy="66675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600" b="1">
                <a:solidFill>
                  <a:srgbClr val="003A70"/>
                </a:solidFill>
                <a:latin typeface="Arial"/>
              </a:rPr>
              <a:t>0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415C5A4-6AE6-7F45-810C-4FA73511C31B}"/>
              </a:ext>
            </a:extLst>
          </p:cNvPr>
          <p:cNvSpPr/>
          <p:nvPr/>
        </p:nvSpPr>
        <p:spPr>
          <a:xfrm>
            <a:off x="6096000" y="2143125"/>
            <a:ext cx="381000" cy="19050"/>
          </a:xfrm>
          <a:prstGeom prst="rect">
            <a:avLst/>
          </a:prstGeom>
          <a:solidFill>
            <a:srgbClr val="7399C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FDA39B2-0255-5649-9E68-C9D01D05D91B}"/>
              </a:ext>
            </a:extLst>
          </p:cNvPr>
          <p:cNvSpPr txBox="1"/>
          <p:nvPr/>
        </p:nvSpPr>
        <p:spPr>
          <a:xfrm>
            <a:off x="6096000" y="2286000"/>
            <a:ext cx="2476500" cy="952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2C3E5A"/>
                </a:solidFill>
                <a:latin typeface="Arial"/>
                <a:cs typeface="Arial"/>
              </a:rPr>
              <a:t>easy-to-use platforms for
stress-testing mutual fund
portfolios before investing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07C1686-63BC-4C45-84D1-98ACCA680F59}"/>
              </a:ext>
            </a:extLst>
          </p:cNvPr>
          <p:cNvSpPr txBox="1"/>
          <p:nvPr/>
        </p:nvSpPr>
        <p:spPr>
          <a:xfrm>
            <a:off x="571500" y="3619500"/>
            <a:ext cx="7905750" cy="47625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i="1">
                <a:solidFill>
                  <a:srgbClr val="6B8299"/>
                </a:solidFill>
                <a:latin typeface="Arial"/>
                <a:cs typeface="Arial"/>
              </a:rPr>
              <a:t>There is no easy way for everyday investors to stress-test mutual fund investments using institutional-grade models.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3B0617D-4E9F-5941-8F60-F32E0771B34B}"/>
              </a:ext>
            </a:extLst>
          </p:cNvPr>
          <p:cNvSpPr txBox="1"/>
          <p:nvPr/>
        </p:nvSpPr>
        <p:spPr>
          <a:xfrm>
            <a:off x="8826500" y="4762500"/>
            <a:ext cx="3175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7399C6"/>
                </a:solidFill>
                <a:latin typeface="Arial"/>
                <a:cs typeface="Arial"/>
              </a:rPr>
              <a:t>2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173EC87-8E59-5768-CD89-344156A511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342900"/>
            <a:ext cx="698500" cy="392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1728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74FE7D8-A112-3547-8038-40C8FDB9A6F6}"/>
              </a:ext>
            </a:extLst>
          </p:cNvPr>
          <p:cNvSpPr txBox="1"/>
          <p:nvPr/>
        </p:nvSpPr>
        <p:spPr>
          <a:xfrm>
            <a:off x="381000" y="342900"/>
            <a:ext cx="3810000" cy="43088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buNone/>
            </a:pPr>
            <a:r>
              <a:rPr lang="en-US" sz="2200" b="1" dirty="0">
                <a:solidFill>
                  <a:srgbClr val="00355F"/>
                </a:solidFill>
                <a:latin typeface="Arial"/>
              </a:rPr>
              <a:t>Our Solution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BD8D08-32F0-4247-A7AB-DA8FE72B5CDC}"/>
              </a:ext>
            </a:extLst>
          </p:cNvPr>
          <p:cNvSpPr txBox="1"/>
          <p:nvPr/>
        </p:nvSpPr>
        <p:spPr>
          <a:xfrm>
            <a:off x="571500" y="1028700"/>
            <a:ext cx="7905750" cy="47625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2C3E5A"/>
                </a:solidFill>
                <a:latin typeface="Arial"/>
                <a:cs typeface="Arial"/>
              </a:rPr>
              <a:t>A full-stack web application empowering retail investors with institutional-grade tools to predict, analyze, and stress-test mutual fund performance.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98D5267F-85D7-8142-8982-5BC00D1E62DF}"/>
              </a:ext>
            </a:extLst>
          </p:cNvPr>
          <p:cNvSpPr/>
          <p:nvPr/>
        </p:nvSpPr>
        <p:spPr>
          <a:xfrm>
            <a:off x="571500" y="1714500"/>
            <a:ext cx="3810000" cy="1238250"/>
          </a:xfrm>
          <a:prstGeom prst="roundRect">
            <a:avLst/>
          </a:prstGeom>
          <a:solidFill>
            <a:srgbClr val="F5F6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2D5243A-5C9A-374C-A2D1-80EE090ECC29}"/>
              </a:ext>
            </a:extLst>
          </p:cNvPr>
          <p:cNvSpPr/>
          <p:nvPr/>
        </p:nvSpPr>
        <p:spPr>
          <a:xfrm>
            <a:off x="714375" y="1857375"/>
            <a:ext cx="342900" cy="342900"/>
          </a:xfrm>
          <a:prstGeom prst="ellipse">
            <a:avLst/>
          </a:prstGeom>
          <a:solidFill>
            <a:srgbClr val="7399C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C46C4E-430C-A542-9CD8-8B72DD9A588B}"/>
              </a:ext>
            </a:extLst>
          </p:cNvPr>
          <p:cNvSpPr txBox="1"/>
          <p:nvPr/>
        </p:nvSpPr>
        <p:spPr>
          <a:xfrm>
            <a:off x="1162050" y="1857375"/>
            <a:ext cx="3048000" cy="28575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0A1628"/>
                </a:solidFill>
                <a:latin typeface="Arial"/>
              </a:rPr>
              <a:t>Investment Calculator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3FDA58-C7D2-BE40-B412-01879AD6DCAE}"/>
              </a:ext>
            </a:extLst>
          </p:cNvPr>
          <p:cNvSpPr txBox="1"/>
          <p:nvPr/>
        </p:nvSpPr>
        <p:spPr>
          <a:xfrm>
            <a:off x="1162050" y="2209800"/>
            <a:ext cx="3048000" cy="571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6B8299"/>
                </a:solidFill>
                <a:latin typeface="Arial"/>
                <a:cs typeface="Arial"/>
              </a:rPr>
              <a:t>CAPM-based return predictions
with exponential growth modeling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6F1E47B4-5065-7042-B3D8-0EE4402DC2EC}"/>
              </a:ext>
            </a:extLst>
          </p:cNvPr>
          <p:cNvSpPr/>
          <p:nvPr/>
        </p:nvSpPr>
        <p:spPr>
          <a:xfrm>
            <a:off x="4857750" y="1714500"/>
            <a:ext cx="3810000" cy="1238250"/>
          </a:xfrm>
          <a:prstGeom prst="roundRect">
            <a:avLst/>
          </a:prstGeom>
          <a:solidFill>
            <a:srgbClr val="F5F6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1315223-54F5-4440-8ED7-7178F5F1B613}"/>
              </a:ext>
            </a:extLst>
          </p:cNvPr>
          <p:cNvSpPr/>
          <p:nvPr/>
        </p:nvSpPr>
        <p:spPr>
          <a:xfrm>
            <a:off x="5000625" y="1857375"/>
            <a:ext cx="342900" cy="342900"/>
          </a:xfrm>
          <a:prstGeom prst="ellipse">
            <a:avLst/>
          </a:prstGeom>
          <a:solidFill>
            <a:srgbClr val="7399C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A99D697-E271-8A47-9782-80DF2AEDAE54}"/>
              </a:ext>
            </a:extLst>
          </p:cNvPr>
          <p:cNvSpPr txBox="1"/>
          <p:nvPr/>
        </p:nvSpPr>
        <p:spPr>
          <a:xfrm>
            <a:off x="5448300" y="1857375"/>
            <a:ext cx="3048000" cy="28575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0A1628"/>
                </a:solidFill>
                <a:latin typeface="Arial"/>
              </a:rPr>
              <a:t>Stress Testing Engine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B674B7A-7F97-AE46-8E75-CD36D833089B}"/>
              </a:ext>
            </a:extLst>
          </p:cNvPr>
          <p:cNvSpPr txBox="1"/>
          <p:nvPr/>
        </p:nvSpPr>
        <p:spPr>
          <a:xfrm>
            <a:off x="5448300" y="2209800"/>
            <a:ext cx="3048000" cy="571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6B8299"/>
                </a:solidFill>
                <a:latin typeface="Arial"/>
                <a:cs typeface="Arial"/>
              </a:rPr>
              <a:t>Simulate portfolio performance
under adverse market conditions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FFF872FA-2FB9-0C48-9A99-854E675D31C2}"/>
              </a:ext>
            </a:extLst>
          </p:cNvPr>
          <p:cNvSpPr/>
          <p:nvPr/>
        </p:nvSpPr>
        <p:spPr>
          <a:xfrm>
            <a:off x="571500" y="3143250"/>
            <a:ext cx="3810000" cy="1238250"/>
          </a:xfrm>
          <a:prstGeom prst="roundRect">
            <a:avLst/>
          </a:prstGeom>
          <a:solidFill>
            <a:srgbClr val="F5F6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340AD12-5CBB-A641-A861-5777C62DFCD7}"/>
              </a:ext>
            </a:extLst>
          </p:cNvPr>
          <p:cNvSpPr/>
          <p:nvPr/>
        </p:nvSpPr>
        <p:spPr>
          <a:xfrm>
            <a:off x="714375" y="3286125"/>
            <a:ext cx="342900" cy="342900"/>
          </a:xfrm>
          <a:prstGeom prst="ellipse">
            <a:avLst/>
          </a:prstGeom>
          <a:solidFill>
            <a:srgbClr val="7399C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rial"/>
                <a:cs typeface="Arial"/>
              </a:rPr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C0D676F-2E7B-A343-978F-A9430AE6D050}"/>
              </a:ext>
            </a:extLst>
          </p:cNvPr>
          <p:cNvSpPr txBox="1"/>
          <p:nvPr/>
        </p:nvSpPr>
        <p:spPr>
          <a:xfrm>
            <a:off x="1162050" y="3286125"/>
            <a:ext cx="3048000" cy="28575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0A1628"/>
                </a:solidFill>
                <a:latin typeface="Arial"/>
              </a:rPr>
              <a:t>Portfolio Tracker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253C0E9-228A-6E4D-9AB6-DE55F3DF8D0D}"/>
              </a:ext>
            </a:extLst>
          </p:cNvPr>
          <p:cNvSpPr txBox="1"/>
          <p:nvPr/>
        </p:nvSpPr>
        <p:spPr>
          <a:xfrm>
            <a:off x="1162050" y="3638550"/>
            <a:ext cx="3048000" cy="571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6B8299"/>
                </a:solidFill>
                <a:latin typeface="Arial"/>
                <a:cs typeface="Arial"/>
              </a:rPr>
              <a:t>Real-time monitoring with
interactive dashboard analytics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98B3CC67-5CA9-9948-8CF1-8C9FF1083155}"/>
              </a:ext>
            </a:extLst>
          </p:cNvPr>
          <p:cNvSpPr/>
          <p:nvPr/>
        </p:nvSpPr>
        <p:spPr>
          <a:xfrm>
            <a:off x="4857750" y="3143250"/>
            <a:ext cx="3810000" cy="1238250"/>
          </a:xfrm>
          <a:prstGeom prst="roundRect">
            <a:avLst/>
          </a:prstGeom>
          <a:solidFill>
            <a:srgbClr val="F5F6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DE9BB25-044E-944E-AD75-0F04BDCD83EA}"/>
              </a:ext>
            </a:extLst>
          </p:cNvPr>
          <p:cNvSpPr/>
          <p:nvPr/>
        </p:nvSpPr>
        <p:spPr>
          <a:xfrm>
            <a:off x="5000625" y="3286125"/>
            <a:ext cx="342900" cy="342900"/>
          </a:xfrm>
          <a:prstGeom prst="ellipse">
            <a:avLst/>
          </a:prstGeom>
          <a:solidFill>
            <a:srgbClr val="7399C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rial"/>
                <a:cs typeface="Arial"/>
              </a:rPr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59CC556-28AD-9D4E-AAC1-837D130E9DC8}"/>
              </a:ext>
            </a:extLst>
          </p:cNvPr>
          <p:cNvSpPr txBox="1"/>
          <p:nvPr/>
        </p:nvSpPr>
        <p:spPr>
          <a:xfrm>
            <a:off x="5448300" y="3286125"/>
            <a:ext cx="3048000" cy="28575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0A1628"/>
                </a:solidFill>
                <a:latin typeface="Arial"/>
              </a:rPr>
              <a:t>Market Insights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4035982-13A6-B744-906A-DF7E3DCC0552}"/>
              </a:ext>
            </a:extLst>
          </p:cNvPr>
          <p:cNvSpPr txBox="1"/>
          <p:nvPr/>
        </p:nvSpPr>
        <p:spPr>
          <a:xfrm>
            <a:off x="5448300" y="3638550"/>
            <a:ext cx="3048000" cy="571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6B8299"/>
                </a:solidFill>
                <a:latin typeface="Arial"/>
                <a:cs typeface="Arial"/>
              </a:rPr>
              <a:t>AI-powered recommendations
and live financial news feed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0C3687B-D827-2246-85EE-E8E9EA42C3FC}"/>
              </a:ext>
            </a:extLst>
          </p:cNvPr>
          <p:cNvSpPr txBox="1"/>
          <p:nvPr/>
        </p:nvSpPr>
        <p:spPr>
          <a:xfrm>
            <a:off x="8826500" y="4762500"/>
            <a:ext cx="3175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7399C6"/>
                </a:solidFill>
                <a:latin typeface="Arial"/>
                <a:cs typeface="Arial"/>
              </a:rPr>
              <a:t>3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F74FE1E-AECA-3941-7136-4309FB430F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342900"/>
            <a:ext cx="698500" cy="392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88263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AF99310-3FDD-FC42-8DCF-0F75CD55A6AE}"/>
              </a:ext>
            </a:extLst>
          </p:cNvPr>
          <p:cNvSpPr txBox="1"/>
          <p:nvPr/>
        </p:nvSpPr>
        <p:spPr>
          <a:xfrm>
            <a:off x="381000" y="342900"/>
            <a:ext cx="3810000" cy="43088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buNone/>
            </a:pPr>
            <a:r>
              <a:rPr lang="en-US" sz="2200" b="1" dirty="0">
                <a:solidFill>
                  <a:srgbClr val="00355F"/>
                </a:solidFill>
                <a:latin typeface="Arial"/>
              </a:rPr>
              <a:t>How It Works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6D6441-28DD-FD4B-8256-946BDDDE27CC}"/>
              </a:ext>
            </a:extLst>
          </p:cNvPr>
          <p:cNvSpPr txBox="1"/>
          <p:nvPr/>
        </p:nvSpPr>
        <p:spPr>
          <a:xfrm>
            <a:off x="571500" y="2413000"/>
            <a:ext cx="1809750" cy="52387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000" b="1">
                <a:solidFill>
                  <a:srgbClr val="003A70"/>
                </a:solidFill>
                <a:latin typeface="Arial"/>
              </a:rPr>
              <a:t>01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148AB88-A13A-D74E-96B6-FE7E047A59A5}"/>
              </a:ext>
            </a:extLst>
          </p:cNvPr>
          <p:cNvSpPr/>
          <p:nvPr/>
        </p:nvSpPr>
        <p:spPr>
          <a:xfrm>
            <a:off x="571500" y="3003550"/>
            <a:ext cx="285750" cy="19050"/>
          </a:xfrm>
          <a:prstGeom prst="rect">
            <a:avLst/>
          </a:prstGeom>
          <a:solidFill>
            <a:srgbClr val="7399C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DE5629-77AB-4441-8448-6678DD0C3F39}"/>
              </a:ext>
            </a:extLst>
          </p:cNvPr>
          <p:cNvSpPr txBox="1"/>
          <p:nvPr/>
        </p:nvSpPr>
        <p:spPr>
          <a:xfrm>
            <a:off x="571500" y="3136900"/>
            <a:ext cx="1809750" cy="28575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0A1628"/>
                </a:solidFill>
                <a:latin typeface="Arial"/>
              </a:rPr>
              <a:t>Select Fund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5E7C3A-5ABA-7443-859C-D2095C825D74}"/>
              </a:ext>
            </a:extLst>
          </p:cNvPr>
          <p:cNvSpPr txBox="1"/>
          <p:nvPr/>
        </p:nvSpPr>
        <p:spPr>
          <a:xfrm>
            <a:off x="571500" y="3479800"/>
            <a:ext cx="1809750" cy="571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6B8299"/>
                </a:solidFill>
                <a:latin typeface="Arial"/>
                <a:cs typeface="Arial"/>
              </a:rPr>
              <a:t>Choose from a curated
list of mutual funds</a:t>
            </a:r>
          </a:p>
        </p:txBody>
      </p:sp>
      <p:sp>
        <p:nvSpPr>
          <p:cNvPr id="8" name="Right Arrow 7">
            <a:extLst>
              <a:ext uri="{FF2B5EF4-FFF2-40B4-BE49-F238E27FC236}">
                <a16:creationId xmlns:a16="http://schemas.microsoft.com/office/drawing/2014/main" id="{B041673F-E937-0A4D-8EAB-6F52B77EF02A}"/>
              </a:ext>
            </a:extLst>
          </p:cNvPr>
          <p:cNvSpPr/>
          <p:nvPr/>
        </p:nvSpPr>
        <p:spPr>
          <a:xfrm>
            <a:off x="2409825" y="2574925"/>
            <a:ext cx="171450" cy="171450"/>
          </a:xfrm>
          <a:prstGeom prst="rightArrow">
            <a:avLst/>
          </a:prstGeom>
          <a:solidFill>
            <a:srgbClr val="7399C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02D9E5-477E-DD40-9769-C8449BC0164D}"/>
              </a:ext>
            </a:extLst>
          </p:cNvPr>
          <p:cNvSpPr txBox="1"/>
          <p:nvPr/>
        </p:nvSpPr>
        <p:spPr>
          <a:xfrm>
            <a:off x="2619375" y="2413000"/>
            <a:ext cx="1809750" cy="52387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000" b="1">
                <a:solidFill>
                  <a:srgbClr val="003A70"/>
                </a:solidFill>
                <a:latin typeface="Arial"/>
              </a:rPr>
              <a:t>02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DB33731-FAF7-5544-9303-736EFE4EC01F}"/>
              </a:ext>
            </a:extLst>
          </p:cNvPr>
          <p:cNvSpPr/>
          <p:nvPr/>
        </p:nvSpPr>
        <p:spPr>
          <a:xfrm>
            <a:off x="2619375" y="3003550"/>
            <a:ext cx="285750" cy="19050"/>
          </a:xfrm>
          <a:prstGeom prst="rect">
            <a:avLst/>
          </a:prstGeom>
          <a:solidFill>
            <a:srgbClr val="7399C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BFDD796-6E32-BD4C-889D-7790D1BA21D9}"/>
              </a:ext>
            </a:extLst>
          </p:cNvPr>
          <p:cNvSpPr txBox="1"/>
          <p:nvPr/>
        </p:nvSpPr>
        <p:spPr>
          <a:xfrm>
            <a:off x="2619375" y="3136900"/>
            <a:ext cx="1809750" cy="28575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0A1628"/>
                </a:solidFill>
                <a:latin typeface="Arial"/>
              </a:rPr>
              <a:t>Set Amount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9048989-43C7-1E48-85E2-6CB913C63E26}"/>
              </a:ext>
            </a:extLst>
          </p:cNvPr>
          <p:cNvSpPr txBox="1"/>
          <p:nvPr/>
        </p:nvSpPr>
        <p:spPr>
          <a:xfrm>
            <a:off x="2619375" y="3479800"/>
            <a:ext cx="1809750" cy="571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6B8299"/>
                </a:solidFill>
                <a:latin typeface="Arial"/>
                <a:cs typeface="Arial"/>
              </a:rPr>
              <a:t>Enter your principal
investment amount</a:t>
            </a:r>
          </a:p>
        </p:txBody>
      </p:sp>
      <p:sp>
        <p:nvSpPr>
          <p:cNvPr id="13" name="Right Arrow 12">
            <a:extLst>
              <a:ext uri="{FF2B5EF4-FFF2-40B4-BE49-F238E27FC236}">
                <a16:creationId xmlns:a16="http://schemas.microsoft.com/office/drawing/2014/main" id="{DE096973-C5CA-5748-8DB4-C6AB99FABC08}"/>
              </a:ext>
            </a:extLst>
          </p:cNvPr>
          <p:cNvSpPr/>
          <p:nvPr/>
        </p:nvSpPr>
        <p:spPr>
          <a:xfrm>
            <a:off x="4457700" y="2574925"/>
            <a:ext cx="171450" cy="171450"/>
          </a:xfrm>
          <a:prstGeom prst="rightArrow">
            <a:avLst/>
          </a:prstGeom>
          <a:solidFill>
            <a:srgbClr val="7399C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DD2C8F2-01F5-9249-A56E-D3BA4994DBC7}"/>
              </a:ext>
            </a:extLst>
          </p:cNvPr>
          <p:cNvSpPr txBox="1"/>
          <p:nvPr/>
        </p:nvSpPr>
        <p:spPr>
          <a:xfrm>
            <a:off x="4667250" y="2413000"/>
            <a:ext cx="1809750" cy="52387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000" b="1">
                <a:solidFill>
                  <a:srgbClr val="003A70"/>
                </a:solidFill>
                <a:latin typeface="Arial"/>
              </a:rPr>
              <a:t>03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00C6C7D-7C48-9041-BCF6-F15F1A88CE54}"/>
              </a:ext>
            </a:extLst>
          </p:cNvPr>
          <p:cNvSpPr/>
          <p:nvPr/>
        </p:nvSpPr>
        <p:spPr>
          <a:xfrm>
            <a:off x="4667250" y="3003550"/>
            <a:ext cx="285750" cy="19050"/>
          </a:xfrm>
          <a:prstGeom prst="rect">
            <a:avLst/>
          </a:prstGeom>
          <a:solidFill>
            <a:srgbClr val="7399C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E4523A1-F713-534D-9872-2975688B256B}"/>
              </a:ext>
            </a:extLst>
          </p:cNvPr>
          <p:cNvSpPr txBox="1"/>
          <p:nvPr/>
        </p:nvSpPr>
        <p:spPr>
          <a:xfrm>
            <a:off x="4667250" y="3136900"/>
            <a:ext cx="1809750" cy="28575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0A1628"/>
                </a:solidFill>
                <a:latin typeface="Arial"/>
              </a:rPr>
              <a:t>Choose Horizon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78B56FE-16B0-8444-A583-7B34D7B46DDD}"/>
              </a:ext>
            </a:extLst>
          </p:cNvPr>
          <p:cNvSpPr txBox="1"/>
          <p:nvPr/>
        </p:nvSpPr>
        <p:spPr>
          <a:xfrm>
            <a:off x="4667250" y="3479800"/>
            <a:ext cx="1809750" cy="571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6B8299"/>
                </a:solidFill>
                <a:latin typeface="Arial"/>
                <a:cs typeface="Arial"/>
              </a:rPr>
              <a:t>Define your investment
time horizon in years</a:t>
            </a:r>
          </a:p>
        </p:txBody>
      </p:sp>
      <p:sp>
        <p:nvSpPr>
          <p:cNvPr id="18" name="Right Arrow 17">
            <a:extLst>
              <a:ext uri="{FF2B5EF4-FFF2-40B4-BE49-F238E27FC236}">
                <a16:creationId xmlns:a16="http://schemas.microsoft.com/office/drawing/2014/main" id="{E2F4DC0D-ECD4-8745-924A-2475B1596824}"/>
              </a:ext>
            </a:extLst>
          </p:cNvPr>
          <p:cNvSpPr/>
          <p:nvPr/>
        </p:nvSpPr>
        <p:spPr>
          <a:xfrm>
            <a:off x="6505575" y="2574925"/>
            <a:ext cx="171450" cy="171450"/>
          </a:xfrm>
          <a:prstGeom prst="rightArrow">
            <a:avLst/>
          </a:prstGeom>
          <a:solidFill>
            <a:srgbClr val="7399C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D8D34D5-7824-A24C-A496-C93CADB78339}"/>
              </a:ext>
            </a:extLst>
          </p:cNvPr>
          <p:cNvSpPr txBox="1"/>
          <p:nvPr/>
        </p:nvSpPr>
        <p:spPr>
          <a:xfrm>
            <a:off x="6715125" y="2413000"/>
            <a:ext cx="1809750" cy="52387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000" b="1">
                <a:solidFill>
                  <a:srgbClr val="003A70"/>
                </a:solidFill>
                <a:latin typeface="Arial"/>
              </a:rPr>
              <a:t>04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8A464F7-01BF-CF4C-B15D-12879EEBA9B4}"/>
              </a:ext>
            </a:extLst>
          </p:cNvPr>
          <p:cNvSpPr/>
          <p:nvPr/>
        </p:nvSpPr>
        <p:spPr>
          <a:xfrm>
            <a:off x="6715125" y="3003550"/>
            <a:ext cx="285750" cy="19050"/>
          </a:xfrm>
          <a:prstGeom prst="rect">
            <a:avLst/>
          </a:prstGeom>
          <a:solidFill>
            <a:srgbClr val="7399C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CE43CFA-DA23-654E-BECA-8FDD1C12F430}"/>
              </a:ext>
            </a:extLst>
          </p:cNvPr>
          <p:cNvSpPr txBox="1"/>
          <p:nvPr/>
        </p:nvSpPr>
        <p:spPr>
          <a:xfrm>
            <a:off x="6715125" y="3136900"/>
            <a:ext cx="1809750" cy="28575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0A1628"/>
                </a:solidFill>
                <a:latin typeface="Arial"/>
              </a:rPr>
              <a:t>View Results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3928325-DE56-4844-8918-EF06F4F3B591}"/>
              </a:ext>
            </a:extLst>
          </p:cNvPr>
          <p:cNvSpPr txBox="1"/>
          <p:nvPr/>
        </p:nvSpPr>
        <p:spPr>
          <a:xfrm>
            <a:off x="6715125" y="3479800"/>
            <a:ext cx="1809750" cy="571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6B8299"/>
                </a:solidFill>
                <a:latin typeface="Arial"/>
                <a:cs typeface="Arial"/>
              </a:rPr>
              <a:t>Review projected returns
and risk analytics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C6C3595-AAB6-D24D-8D39-9178EBED2E93}"/>
              </a:ext>
            </a:extLst>
          </p:cNvPr>
          <p:cNvSpPr txBox="1"/>
          <p:nvPr/>
        </p:nvSpPr>
        <p:spPr>
          <a:xfrm>
            <a:off x="8826500" y="4762500"/>
            <a:ext cx="3175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7399C6"/>
                </a:solidFill>
                <a:latin typeface="Arial"/>
                <a:cs typeface="Arial"/>
              </a:rPr>
              <a:t>4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70C4F8E-A5AA-0FE1-D3CB-D9986D6B6F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342900"/>
            <a:ext cx="698500" cy="392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2305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F41480-F33F-0B48-B764-974F0C274053}"/>
              </a:ext>
            </a:extLst>
          </p:cNvPr>
          <p:cNvSpPr txBox="1"/>
          <p:nvPr/>
        </p:nvSpPr>
        <p:spPr>
          <a:xfrm>
            <a:off x="381000" y="342900"/>
            <a:ext cx="3810000" cy="43088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buNone/>
            </a:pPr>
            <a:r>
              <a:rPr lang="en-US" sz="2200" b="1" dirty="0">
                <a:solidFill>
                  <a:srgbClr val="00355F"/>
                </a:solidFill>
                <a:latin typeface="Arial"/>
              </a:rPr>
              <a:t>The CAPM Model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4225D949-7015-5944-8D68-BA1F8B7813B5}"/>
              </a:ext>
            </a:extLst>
          </p:cNvPr>
          <p:cNvSpPr/>
          <p:nvPr/>
        </p:nvSpPr>
        <p:spPr>
          <a:xfrm>
            <a:off x="571500" y="1095375"/>
            <a:ext cx="7905750" cy="762000"/>
          </a:xfrm>
          <a:prstGeom prst="roundRect">
            <a:avLst/>
          </a:prstGeom>
          <a:solidFill>
            <a:srgbClr val="0A162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9EEBD3-8628-5C46-868A-9E521F63FFE6}"/>
              </a:ext>
            </a:extLst>
          </p:cNvPr>
          <p:cNvSpPr txBox="1"/>
          <p:nvPr/>
        </p:nvSpPr>
        <p:spPr>
          <a:xfrm>
            <a:off x="762000" y="1190625"/>
            <a:ext cx="7524750" cy="523875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2000">
                <a:solidFill>
                  <a:srgbClr val="FFFFFF"/>
                </a:solidFill>
                <a:latin typeface="Arial"/>
              </a:rPr>
              <a:t>FV = P  x  e^(r x t)          r = Rf + B(Rm - Rf)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046D4E9-070A-FF48-8607-24A069605E76}"/>
              </a:ext>
            </a:extLst>
          </p:cNvPr>
          <p:cNvSpPr/>
          <p:nvPr/>
        </p:nvSpPr>
        <p:spPr>
          <a:xfrm>
            <a:off x="571500" y="2143125"/>
            <a:ext cx="2476500" cy="762000"/>
          </a:xfrm>
          <a:prstGeom prst="roundRect">
            <a:avLst/>
          </a:prstGeom>
          <a:solidFill>
            <a:srgbClr val="F5F6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D76E4FE-7412-9A43-99DD-BD7945A72702}"/>
              </a:ext>
            </a:extLst>
          </p:cNvPr>
          <p:cNvSpPr/>
          <p:nvPr/>
        </p:nvSpPr>
        <p:spPr>
          <a:xfrm>
            <a:off x="685800" y="2333625"/>
            <a:ext cx="381000" cy="381000"/>
          </a:xfrm>
          <a:prstGeom prst="ellipse">
            <a:avLst/>
          </a:prstGeom>
          <a:solidFill>
            <a:srgbClr val="7399C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rial"/>
              </a:rPr>
              <a:t>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8AD453-E212-304E-B8FC-D0EABC850366}"/>
              </a:ext>
            </a:extLst>
          </p:cNvPr>
          <p:cNvSpPr txBox="1"/>
          <p:nvPr/>
        </p:nvSpPr>
        <p:spPr>
          <a:xfrm>
            <a:off x="1162050" y="2276475"/>
            <a:ext cx="1762125" cy="24765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0A1628"/>
                </a:solidFill>
                <a:latin typeface="Arial"/>
              </a:rPr>
              <a:t>Principal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92E69D5-BADD-5A49-A311-60CC7AE6A1E3}"/>
              </a:ext>
            </a:extLst>
          </p:cNvPr>
          <p:cNvSpPr txBox="1"/>
          <p:nvPr/>
        </p:nvSpPr>
        <p:spPr>
          <a:xfrm>
            <a:off x="1162050" y="2543175"/>
            <a:ext cx="1762125" cy="24765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6B8299"/>
                </a:solidFill>
                <a:latin typeface="Arial"/>
                <a:cs typeface="Arial"/>
              </a:rPr>
              <a:t>Initial investment amount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0F483062-4F25-A04F-9EAE-F47C44E2E179}"/>
              </a:ext>
            </a:extLst>
          </p:cNvPr>
          <p:cNvSpPr/>
          <p:nvPr/>
        </p:nvSpPr>
        <p:spPr>
          <a:xfrm>
            <a:off x="3286125" y="2143125"/>
            <a:ext cx="2476500" cy="762000"/>
          </a:xfrm>
          <a:prstGeom prst="roundRect">
            <a:avLst/>
          </a:prstGeom>
          <a:solidFill>
            <a:srgbClr val="F5F6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C4AF529-7BC3-8341-BA09-4C0D1ABBA5C2}"/>
              </a:ext>
            </a:extLst>
          </p:cNvPr>
          <p:cNvSpPr/>
          <p:nvPr/>
        </p:nvSpPr>
        <p:spPr>
          <a:xfrm>
            <a:off x="3400425" y="2333625"/>
            <a:ext cx="381000" cy="381000"/>
          </a:xfrm>
          <a:prstGeom prst="ellipse">
            <a:avLst/>
          </a:prstGeom>
          <a:solidFill>
            <a:srgbClr val="7399C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rial"/>
              </a:rPr>
              <a:t>B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E268592-38E1-8944-B336-1DBC61234F65}"/>
              </a:ext>
            </a:extLst>
          </p:cNvPr>
          <p:cNvSpPr txBox="1"/>
          <p:nvPr/>
        </p:nvSpPr>
        <p:spPr>
          <a:xfrm>
            <a:off x="3876675" y="2276475"/>
            <a:ext cx="1762125" cy="24765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0A1628"/>
                </a:solidFill>
                <a:latin typeface="Arial"/>
              </a:rPr>
              <a:t>Beta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30BFD61-5866-2540-BC5A-FEBDD16B4FF3}"/>
              </a:ext>
            </a:extLst>
          </p:cNvPr>
          <p:cNvSpPr txBox="1"/>
          <p:nvPr/>
        </p:nvSpPr>
        <p:spPr>
          <a:xfrm>
            <a:off x="3876675" y="2543175"/>
            <a:ext cx="1762125" cy="24765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6B8299"/>
                </a:solidFill>
                <a:latin typeface="Arial"/>
                <a:cs typeface="Arial"/>
              </a:rPr>
              <a:t>Systematic risk measure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B202447D-B7A3-0041-9695-DBC2A28295D2}"/>
              </a:ext>
            </a:extLst>
          </p:cNvPr>
          <p:cNvSpPr/>
          <p:nvPr/>
        </p:nvSpPr>
        <p:spPr>
          <a:xfrm>
            <a:off x="6000750" y="2143125"/>
            <a:ext cx="2476500" cy="762000"/>
          </a:xfrm>
          <a:prstGeom prst="roundRect">
            <a:avLst/>
          </a:prstGeom>
          <a:solidFill>
            <a:srgbClr val="F5F6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A82A1100-6E24-1E4D-BCB8-821C3680161A}"/>
              </a:ext>
            </a:extLst>
          </p:cNvPr>
          <p:cNvSpPr/>
          <p:nvPr/>
        </p:nvSpPr>
        <p:spPr>
          <a:xfrm>
            <a:off x="6115050" y="2333625"/>
            <a:ext cx="381000" cy="381000"/>
          </a:xfrm>
          <a:prstGeom prst="ellipse">
            <a:avLst/>
          </a:prstGeom>
          <a:solidFill>
            <a:srgbClr val="7399C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rial"/>
              </a:rPr>
              <a:t>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B4E6618-B1C1-B44D-AA98-A9DC4C107D92}"/>
              </a:ext>
            </a:extLst>
          </p:cNvPr>
          <p:cNvSpPr txBox="1"/>
          <p:nvPr/>
        </p:nvSpPr>
        <p:spPr>
          <a:xfrm>
            <a:off x="6591300" y="2276475"/>
            <a:ext cx="1762125" cy="24765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0A1628"/>
                </a:solidFill>
                <a:latin typeface="Arial"/>
              </a:rPr>
              <a:t>CAPM Rate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4C883CE-49D3-0D4F-A430-151FC323ECEC}"/>
              </a:ext>
            </a:extLst>
          </p:cNvPr>
          <p:cNvSpPr txBox="1"/>
          <p:nvPr/>
        </p:nvSpPr>
        <p:spPr>
          <a:xfrm>
            <a:off x="6591300" y="2543175"/>
            <a:ext cx="1762125" cy="24765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6B8299"/>
                </a:solidFill>
                <a:latin typeface="Arial"/>
                <a:cs typeface="Arial"/>
              </a:rPr>
              <a:t>Expected return rate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75E73767-6831-3A4D-9470-90DC145D185F}"/>
              </a:ext>
            </a:extLst>
          </p:cNvPr>
          <p:cNvSpPr/>
          <p:nvPr/>
        </p:nvSpPr>
        <p:spPr>
          <a:xfrm>
            <a:off x="571500" y="3048000"/>
            <a:ext cx="2476500" cy="762000"/>
          </a:xfrm>
          <a:prstGeom prst="roundRect">
            <a:avLst/>
          </a:prstGeom>
          <a:solidFill>
            <a:srgbClr val="F5F6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911CAA99-BF65-F942-9B6D-5B27535588E4}"/>
              </a:ext>
            </a:extLst>
          </p:cNvPr>
          <p:cNvSpPr/>
          <p:nvPr/>
        </p:nvSpPr>
        <p:spPr>
          <a:xfrm>
            <a:off x="685800" y="3238500"/>
            <a:ext cx="381000" cy="381000"/>
          </a:xfrm>
          <a:prstGeom prst="ellipse">
            <a:avLst/>
          </a:prstGeom>
          <a:solidFill>
            <a:srgbClr val="7399C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rial"/>
              </a:rPr>
              <a:t>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8ADEFC9-44BD-6841-AE66-B09DA92A775E}"/>
              </a:ext>
            </a:extLst>
          </p:cNvPr>
          <p:cNvSpPr txBox="1"/>
          <p:nvPr/>
        </p:nvSpPr>
        <p:spPr>
          <a:xfrm>
            <a:off x="1162050" y="3181350"/>
            <a:ext cx="1762125" cy="24765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0A1628"/>
                </a:solidFill>
                <a:latin typeface="Arial"/>
              </a:rPr>
              <a:t>Time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57FAEC1-1DC6-5949-B4DF-2D3BC5ED9C02}"/>
              </a:ext>
            </a:extLst>
          </p:cNvPr>
          <p:cNvSpPr txBox="1"/>
          <p:nvPr/>
        </p:nvSpPr>
        <p:spPr>
          <a:xfrm>
            <a:off x="1162050" y="3448050"/>
            <a:ext cx="1762125" cy="24765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6B8299"/>
                </a:solidFill>
                <a:latin typeface="Arial"/>
                <a:cs typeface="Arial"/>
              </a:rPr>
              <a:t>Investment horizon (years)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6342D957-8B5E-6F4B-93B7-E19B1AD93EEF}"/>
              </a:ext>
            </a:extLst>
          </p:cNvPr>
          <p:cNvSpPr/>
          <p:nvPr/>
        </p:nvSpPr>
        <p:spPr>
          <a:xfrm>
            <a:off x="3286125" y="3048000"/>
            <a:ext cx="2476500" cy="762000"/>
          </a:xfrm>
          <a:prstGeom prst="roundRect">
            <a:avLst/>
          </a:prstGeom>
          <a:solidFill>
            <a:srgbClr val="F5F6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4800D44C-F3F8-BF47-B7CE-D26877929BF0}"/>
              </a:ext>
            </a:extLst>
          </p:cNvPr>
          <p:cNvSpPr/>
          <p:nvPr/>
        </p:nvSpPr>
        <p:spPr>
          <a:xfrm>
            <a:off x="3381375" y="3219450"/>
            <a:ext cx="419100" cy="419100"/>
          </a:xfrm>
          <a:prstGeom prst="ellipse">
            <a:avLst/>
          </a:prstGeom>
          <a:solidFill>
            <a:srgbClr val="7399C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rial"/>
              </a:rPr>
              <a:t>Rf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8EFADF6-F747-FA4D-B7DA-5FAC2848935B}"/>
              </a:ext>
            </a:extLst>
          </p:cNvPr>
          <p:cNvSpPr txBox="1"/>
          <p:nvPr/>
        </p:nvSpPr>
        <p:spPr>
          <a:xfrm>
            <a:off x="3876675" y="3181350"/>
            <a:ext cx="1762125" cy="24765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0A1628"/>
                </a:solidFill>
                <a:latin typeface="Arial"/>
              </a:rPr>
              <a:t>Risk-Free Rate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7903336-05DF-DB40-A97F-D557783CC145}"/>
              </a:ext>
            </a:extLst>
          </p:cNvPr>
          <p:cNvSpPr txBox="1"/>
          <p:nvPr/>
        </p:nvSpPr>
        <p:spPr>
          <a:xfrm>
            <a:off x="3876675" y="3448050"/>
            <a:ext cx="1762125" cy="24765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6B8299"/>
                </a:solidFill>
                <a:latin typeface="Arial"/>
                <a:cs typeface="Arial"/>
              </a:rPr>
              <a:t>Treasury bond yield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875E0515-130E-AB4B-B0B0-85BF360F6954}"/>
              </a:ext>
            </a:extLst>
          </p:cNvPr>
          <p:cNvSpPr/>
          <p:nvPr/>
        </p:nvSpPr>
        <p:spPr>
          <a:xfrm>
            <a:off x="6000750" y="3048000"/>
            <a:ext cx="2476500" cy="762000"/>
          </a:xfrm>
          <a:prstGeom prst="roundRect">
            <a:avLst/>
          </a:prstGeom>
          <a:solidFill>
            <a:srgbClr val="F5F6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22C7E31B-4E70-5A47-AC8E-2BAFC2AAAC92}"/>
              </a:ext>
            </a:extLst>
          </p:cNvPr>
          <p:cNvSpPr/>
          <p:nvPr/>
        </p:nvSpPr>
        <p:spPr>
          <a:xfrm>
            <a:off x="6096000" y="3219450"/>
            <a:ext cx="419100" cy="419100"/>
          </a:xfrm>
          <a:prstGeom prst="ellipse">
            <a:avLst/>
          </a:prstGeom>
          <a:solidFill>
            <a:srgbClr val="7399C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rial"/>
              </a:rPr>
              <a:t>Rm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CE3C1EF-2005-CF49-81A1-187EA245F4DD}"/>
              </a:ext>
            </a:extLst>
          </p:cNvPr>
          <p:cNvSpPr txBox="1"/>
          <p:nvPr/>
        </p:nvSpPr>
        <p:spPr>
          <a:xfrm>
            <a:off x="6591300" y="3181350"/>
            <a:ext cx="1762125" cy="24765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0A1628"/>
                </a:solidFill>
                <a:latin typeface="Arial"/>
              </a:rPr>
              <a:t>Market Return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5A93D2F-905B-4646-BAF4-8D097F5EF7C9}"/>
              </a:ext>
            </a:extLst>
          </p:cNvPr>
          <p:cNvSpPr txBox="1"/>
          <p:nvPr/>
        </p:nvSpPr>
        <p:spPr>
          <a:xfrm>
            <a:off x="6591300" y="3448050"/>
            <a:ext cx="1762125" cy="24765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6B8299"/>
                </a:solidFill>
                <a:latin typeface="Arial"/>
                <a:cs typeface="Arial"/>
              </a:rPr>
              <a:t>Expected market return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B8879AB-0D89-F542-88A5-440A915AD730}"/>
              </a:ext>
            </a:extLst>
          </p:cNvPr>
          <p:cNvSpPr txBox="1"/>
          <p:nvPr/>
        </p:nvSpPr>
        <p:spPr>
          <a:xfrm>
            <a:off x="8826500" y="4762500"/>
            <a:ext cx="3175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7399C6"/>
                </a:solidFill>
                <a:latin typeface="Arial"/>
                <a:cs typeface="Arial"/>
              </a:rPr>
              <a:t>5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58F907E-F78F-1A2B-BBF0-861A7EEE0F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342900"/>
            <a:ext cx="698500" cy="392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69499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BF61169-7DBD-8540-8833-58E5DAF3EAEF}"/>
              </a:ext>
            </a:extLst>
          </p:cNvPr>
          <p:cNvSpPr txBox="1"/>
          <p:nvPr/>
        </p:nvSpPr>
        <p:spPr>
          <a:xfrm>
            <a:off x="381000" y="342900"/>
            <a:ext cx="4762500" cy="43088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buNone/>
            </a:pPr>
            <a:r>
              <a:rPr lang="en-US" sz="2200" b="1" dirty="0">
                <a:solidFill>
                  <a:srgbClr val="00355F"/>
                </a:solidFill>
                <a:latin typeface="Arial"/>
              </a:rPr>
              <a:t>Feature Highlights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C39866F-8597-784F-B80D-A63D2185031F}"/>
              </a:ext>
            </a:extLst>
          </p:cNvPr>
          <p:cNvSpPr/>
          <p:nvPr/>
        </p:nvSpPr>
        <p:spPr>
          <a:xfrm>
            <a:off x="571500" y="1095375"/>
            <a:ext cx="3905250" cy="1476375"/>
          </a:xfrm>
          <a:prstGeom prst="roundRect">
            <a:avLst/>
          </a:prstGeom>
          <a:solidFill>
            <a:srgbClr val="F5F6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8CE5849-DF9B-2546-9BF9-0FF9B80FB2C9}"/>
              </a:ext>
            </a:extLst>
          </p:cNvPr>
          <p:cNvSpPr/>
          <p:nvPr/>
        </p:nvSpPr>
        <p:spPr>
          <a:xfrm>
            <a:off x="714375" y="1238250"/>
            <a:ext cx="38100" cy="381000"/>
          </a:xfrm>
          <a:prstGeom prst="rect">
            <a:avLst/>
          </a:prstGeom>
          <a:solidFill>
            <a:srgbClr val="7399C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ECC0AC-0D5A-B74D-9581-FBA2F93B1278}"/>
              </a:ext>
            </a:extLst>
          </p:cNvPr>
          <p:cNvSpPr txBox="1"/>
          <p:nvPr/>
        </p:nvSpPr>
        <p:spPr>
          <a:xfrm>
            <a:off x="857250" y="1209675"/>
            <a:ext cx="3429000" cy="28575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0A1628"/>
                </a:solidFill>
                <a:latin typeface="Arial"/>
              </a:rPr>
              <a:t>Stress Testing Engine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9F2CF0-493F-ED4D-92CD-89A7EFC3296D}"/>
              </a:ext>
            </a:extLst>
          </p:cNvPr>
          <p:cNvSpPr txBox="1"/>
          <p:nvPr/>
        </p:nvSpPr>
        <p:spPr>
          <a:xfrm>
            <a:off x="857250" y="1571625"/>
            <a:ext cx="3429000" cy="85725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6B8299"/>
                </a:solidFill>
                <a:latin typeface="Arial"/>
                <a:cs typeface="Arial"/>
              </a:rPr>
              <a:t>Simulate market crashes, sector downturns, and interest rate shocks to evaluate portfolio resilience under adverse conditions.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1B030DB4-9C18-4446-A60E-E6CA67BE4B9E}"/>
              </a:ext>
            </a:extLst>
          </p:cNvPr>
          <p:cNvSpPr/>
          <p:nvPr/>
        </p:nvSpPr>
        <p:spPr>
          <a:xfrm>
            <a:off x="4810125" y="1095375"/>
            <a:ext cx="3905250" cy="1476375"/>
          </a:xfrm>
          <a:prstGeom prst="roundRect">
            <a:avLst/>
          </a:prstGeom>
          <a:solidFill>
            <a:srgbClr val="F5F6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6653E5C-4D92-8246-859E-36D222D28688}"/>
              </a:ext>
            </a:extLst>
          </p:cNvPr>
          <p:cNvSpPr/>
          <p:nvPr/>
        </p:nvSpPr>
        <p:spPr>
          <a:xfrm>
            <a:off x="4953000" y="1238250"/>
            <a:ext cx="38100" cy="381000"/>
          </a:xfrm>
          <a:prstGeom prst="rect">
            <a:avLst/>
          </a:prstGeom>
          <a:solidFill>
            <a:srgbClr val="7399C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B434784-A93B-2249-A244-BA057BB02311}"/>
              </a:ext>
            </a:extLst>
          </p:cNvPr>
          <p:cNvSpPr txBox="1"/>
          <p:nvPr/>
        </p:nvSpPr>
        <p:spPr>
          <a:xfrm>
            <a:off x="5095875" y="1209675"/>
            <a:ext cx="3429000" cy="28575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0A1628"/>
                </a:solidFill>
                <a:latin typeface="Arial"/>
              </a:rPr>
              <a:t>Portfolio Dashboard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7B2D0EE-BB2C-1C47-AAA6-A7C4462FE26A}"/>
              </a:ext>
            </a:extLst>
          </p:cNvPr>
          <p:cNvSpPr txBox="1"/>
          <p:nvPr/>
        </p:nvSpPr>
        <p:spPr>
          <a:xfrm>
            <a:off x="5095875" y="1571625"/>
            <a:ext cx="3429000" cy="85725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6B8299"/>
                </a:solidFill>
                <a:latin typeface="Arial"/>
                <a:cs typeface="Arial"/>
              </a:rPr>
              <a:t>Interactive real-time tracking with performance charts, asset allocation breakdown, and historical comparison tools.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F4C3315A-BE25-004E-937A-4ABF9FC99120}"/>
              </a:ext>
            </a:extLst>
          </p:cNvPr>
          <p:cNvSpPr/>
          <p:nvPr/>
        </p:nvSpPr>
        <p:spPr>
          <a:xfrm>
            <a:off x="571500" y="2762250"/>
            <a:ext cx="3905250" cy="1476375"/>
          </a:xfrm>
          <a:prstGeom prst="roundRect">
            <a:avLst/>
          </a:prstGeom>
          <a:solidFill>
            <a:srgbClr val="F5F6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F344F0B-38EA-2F4E-BBF4-E46DFDC278ED}"/>
              </a:ext>
            </a:extLst>
          </p:cNvPr>
          <p:cNvSpPr/>
          <p:nvPr/>
        </p:nvSpPr>
        <p:spPr>
          <a:xfrm>
            <a:off x="714375" y="2905125"/>
            <a:ext cx="38100" cy="381000"/>
          </a:xfrm>
          <a:prstGeom prst="rect">
            <a:avLst/>
          </a:prstGeom>
          <a:solidFill>
            <a:srgbClr val="7399C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E40921E-12BF-6E40-97B5-3342FD690938}"/>
              </a:ext>
            </a:extLst>
          </p:cNvPr>
          <p:cNvSpPr txBox="1"/>
          <p:nvPr/>
        </p:nvSpPr>
        <p:spPr>
          <a:xfrm>
            <a:off x="857250" y="2876550"/>
            <a:ext cx="3429000" cy="28575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0A1628"/>
                </a:solidFill>
                <a:latin typeface="Arial"/>
              </a:rPr>
              <a:t>AI Recommendations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95E1C73-9458-1140-8553-E00089A5A6C2}"/>
              </a:ext>
            </a:extLst>
          </p:cNvPr>
          <p:cNvSpPr txBox="1"/>
          <p:nvPr/>
        </p:nvSpPr>
        <p:spPr>
          <a:xfrm>
            <a:off x="857250" y="3238500"/>
            <a:ext cx="3429000" cy="85725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6B8299"/>
                </a:solidFill>
                <a:latin typeface="Arial"/>
                <a:cs typeface="Arial"/>
              </a:rPr>
              <a:t>Machine learning-powered investment suggestions based on risk profile, market trends, and portfolio composition analysis.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0A7F6F08-289E-6A4A-9DEC-D0506BD10682}"/>
              </a:ext>
            </a:extLst>
          </p:cNvPr>
          <p:cNvSpPr/>
          <p:nvPr/>
        </p:nvSpPr>
        <p:spPr>
          <a:xfrm>
            <a:off x="4810125" y="2762250"/>
            <a:ext cx="3905250" cy="1476375"/>
          </a:xfrm>
          <a:prstGeom prst="roundRect">
            <a:avLst/>
          </a:prstGeom>
          <a:solidFill>
            <a:srgbClr val="F5F6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4A62AC1-755A-B64C-9E31-C77785650C79}"/>
              </a:ext>
            </a:extLst>
          </p:cNvPr>
          <p:cNvSpPr/>
          <p:nvPr/>
        </p:nvSpPr>
        <p:spPr>
          <a:xfrm>
            <a:off x="4953000" y="2905125"/>
            <a:ext cx="38100" cy="381000"/>
          </a:xfrm>
          <a:prstGeom prst="rect">
            <a:avLst/>
          </a:prstGeom>
          <a:solidFill>
            <a:srgbClr val="7399C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46AC48D-26B1-444E-88B9-40FE51084A99}"/>
              </a:ext>
            </a:extLst>
          </p:cNvPr>
          <p:cNvSpPr txBox="1"/>
          <p:nvPr/>
        </p:nvSpPr>
        <p:spPr>
          <a:xfrm>
            <a:off x="5095875" y="2876550"/>
            <a:ext cx="3429000" cy="28575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0A1628"/>
                </a:solidFill>
                <a:latin typeface="Arial"/>
              </a:rPr>
              <a:t>Live Market News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56F4161-4C33-ED41-A218-09D15BCF0F95}"/>
              </a:ext>
            </a:extLst>
          </p:cNvPr>
          <p:cNvSpPr txBox="1"/>
          <p:nvPr/>
        </p:nvSpPr>
        <p:spPr>
          <a:xfrm>
            <a:off x="5095875" y="3238500"/>
            <a:ext cx="3429000" cy="85725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6B8299"/>
                </a:solidFill>
                <a:latin typeface="Arial"/>
                <a:cs typeface="Arial"/>
              </a:rPr>
              <a:t>Curated financial news feed with sentiment analysis, delivering real-time updates relevant to your portfolio holdings.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929A486-3515-C249-B1C7-3B37340EEC92}"/>
              </a:ext>
            </a:extLst>
          </p:cNvPr>
          <p:cNvSpPr txBox="1"/>
          <p:nvPr/>
        </p:nvSpPr>
        <p:spPr>
          <a:xfrm>
            <a:off x="8826500" y="4762500"/>
            <a:ext cx="3175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7399C6"/>
                </a:solidFill>
                <a:latin typeface="Arial"/>
                <a:cs typeface="Arial"/>
              </a:rPr>
              <a:t>6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D0C4D30-7CC3-AC7F-3B00-E9FE4E26E4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342900"/>
            <a:ext cx="698500" cy="392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11505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55F4FE6-9666-D84C-9798-11459040D3CD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355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ED000F-B340-5B4C-8BB6-4471E73C9A8A}"/>
              </a:ext>
            </a:extLst>
          </p:cNvPr>
          <p:cNvSpPr txBox="1"/>
          <p:nvPr/>
        </p:nvSpPr>
        <p:spPr>
          <a:xfrm>
            <a:off x="1524000" y="1651000"/>
            <a:ext cx="6096000" cy="66675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600" b="1">
                <a:solidFill>
                  <a:srgbClr val="FFFFFF"/>
                </a:solidFill>
                <a:latin typeface="Arial"/>
              </a:rPr>
              <a:t>Live Demo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FC911C-380A-1B4C-8BFC-E749AC25BDFA}"/>
              </a:ext>
            </a:extLst>
          </p:cNvPr>
          <p:cNvSpPr txBox="1"/>
          <p:nvPr/>
        </p:nvSpPr>
        <p:spPr>
          <a:xfrm>
            <a:off x="1905000" y="2365375"/>
            <a:ext cx="5334000" cy="33337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>
                <a:solidFill>
                  <a:srgbClr val="8C9BAA"/>
                </a:solidFill>
                <a:latin typeface="Arial"/>
                <a:cs typeface="Arial"/>
              </a:rPr>
              <a:t>Interactive Walkthrough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2A71FB4-2888-3E48-9979-B4E711780FCA}"/>
              </a:ext>
            </a:extLst>
          </p:cNvPr>
          <p:cNvSpPr/>
          <p:nvPr/>
        </p:nvSpPr>
        <p:spPr>
          <a:xfrm>
            <a:off x="3810000" y="2889250"/>
            <a:ext cx="1524000" cy="23812"/>
          </a:xfrm>
          <a:prstGeom prst="rect">
            <a:avLst/>
          </a:prstGeom>
          <a:solidFill>
            <a:srgbClr val="7399C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03026D6-E47F-754F-8DFF-0FB1B6C9DEEF}"/>
              </a:ext>
            </a:extLst>
          </p:cNvPr>
          <p:cNvSpPr/>
          <p:nvPr/>
        </p:nvSpPr>
        <p:spPr>
          <a:xfrm>
            <a:off x="666750" y="3270250"/>
            <a:ext cx="1809750" cy="419100"/>
          </a:xfrm>
          <a:prstGeom prst="roundRect">
            <a:avLst/>
          </a:prstGeom>
          <a:solidFill>
            <a:srgbClr val="0A1628"/>
          </a:solidFill>
          <a:ln w="12700" cap="flat" cmpd="sng" algn="ctr">
            <a:solidFill>
              <a:srgbClr val="7399C6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FFFFFF"/>
                </a:solidFill>
                <a:latin typeface="Arial"/>
                <a:cs typeface="Arial"/>
              </a:rPr>
              <a:t>Investment Calculator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586EB38-3AC2-E348-B097-A6E501E5B4F0}"/>
              </a:ext>
            </a:extLst>
          </p:cNvPr>
          <p:cNvSpPr/>
          <p:nvPr/>
        </p:nvSpPr>
        <p:spPr>
          <a:xfrm>
            <a:off x="2667000" y="3270250"/>
            <a:ext cx="1809750" cy="419100"/>
          </a:xfrm>
          <a:prstGeom prst="roundRect">
            <a:avLst/>
          </a:prstGeom>
          <a:solidFill>
            <a:srgbClr val="0A1628"/>
          </a:solidFill>
          <a:ln w="12700" cap="flat" cmpd="sng" algn="ctr">
            <a:solidFill>
              <a:srgbClr val="7399C6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FFFFFF"/>
                </a:solidFill>
                <a:latin typeface="Arial"/>
                <a:cs typeface="Arial"/>
              </a:rPr>
              <a:t>Return Results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38E610EA-C1C6-D748-B11A-BBE6538978D3}"/>
              </a:ext>
            </a:extLst>
          </p:cNvPr>
          <p:cNvSpPr/>
          <p:nvPr/>
        </p:nvSpPr>
        <p:spPr>
          <a:xfrm>
            <a:off x="4667250" y="3270250"/>
            <a:ext cx="1809750" cy="419100"/>
          </a:xfrm>
          <a:prstGeom prst="roundRect">
            <a:avLst/>
          </a:prstGeom>
          <a:solidFill>
            <a:srgbClr val="0A1628"/>
          </a:solidFill>
          <a:ln w="12700" cap="flat" cmpd="sng" algn="ctr">
            <a:solidFill>
              <a:srgbClr val="7399C6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FFFFFF"/>
                </a:solidFill>
                <a:latin typeface="Arial"/>
                <a:cs typeface="Arial"/>
              </a:rPr>
              <a:t>Stress Testing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15B339C1-0B7A-744D-AD14-AC5580190820}"/>
              </a:ext>
            </a:extLst>
          </p:cNvPr>
          <p:cNvSpPr/>
          <p:nvPr/>
        </p:nvSpPr>
        <p:spPr>
          <a:xfrm>
            <a:off x="6667500" y="3270250"/>
            <a:ext cx="1809750" cy="419100"/>
          </a:xfrm>
          <a:prstGeom prst="roundRect">
            <a:avLst/>
          </a:prstGeom>
          <a:solidFill>
            <a:srgbClr val="0A1628"/>
          </a:solidFill>
          <a:ln w="12700" cap="flat" cmpd="sng" algn="ctr">
            <a:solidFill>
              <a:srgbClr val="7399C6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FFFFFF"/>
                </a:solidFill>
                <a:latin typeface="Arial"/>
                <a:cs typeface="Arial"/>
              </a:rPr>
              <a:t>Portfolio Tracker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C2E40F3-5541-0C44-A842-34A946BE397C}"/>
              </a:ext>
            </a:extLst>
          </p:cNvPr>
          <p:cNvSpPr txBox="1"/>
          <p:nvPr/>
        </p:nvSpPr>
        <p:spPr>
          <a:xfrm>
            <a:off x="8826500" y="4762500"/>
            <a:ext cx="3175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7399C6"/>
                </a:solidFill>
                <a:latin typeface="Arial"/>
                <a:cs typeface="Arial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1717507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CB24F52-C63E-944F-A303-13379CF0EC88}"/>
              </a:ext>
            </a:extLst>
          </p:cNvPr>
          <p:cNvSpPr txBox="1"/>
          <p:nvPr/>
        </p:nvSpPr>
        <p:spPr>
          <a:xfrm>
            <a:off x="381000" y="342900"/>
            <a:ext cx="4762500" cy="43088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buNone/>
            </a:pPr>
            <a:r>
              <a:rPr lang="en-US" sz="2200" b="1" dirty="0">
                <a:solidFill>
                  <a:srgbClr val="00355F"/>
                </a:solidFill>
                <a:latin typeface="Arial"/>
              </a:rPr>
              <a:t>Technology Stack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E93C677-A3E7-A54D-8C9F-E7FF257FBCCD}"/>
              </a:ext>
            </a:extLst>
          </p:cNvPr>
          <p:cNvSpPr/>
          <p:nvPr/>
        </p:nvSpPr>
        <p:spPr>
          <a:xfrm>
            <a:off x="571500" y="1123950"/>
            <a:ext cx="2476500" cy="381000"/>
          </a:xfrm>
          <a:prstGeom prst="roundRect">
            <a:avLst/>
          </a:prstGeom>
          <a:solidFill>
            <a:srgbClr val="00355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rial"/>
              </a:rPr>
              <a:t>Frontend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D928417-BA0A-6B45-ACFD-7B0F4CCA37BE}"/>
              </a:ext>
            </a:extLst>
          </p:cNvPr>
          <p:cNvSpPr/>
          <p:nvPr/>
        </p:nvSpPr>
        <p:spPr>
          <a:xfrm>
            <a:off x="571500" y="1600200"/>
            <a:ext cx="2476500" cy="552450"/>
          </a:xfrm>
          <a:prstGeom prst="roundRect">
            <a:avLst/>
          </a:prstGeom>
          <a:solidFill>
            <a:srgbClr val="F5F6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E6D688-36DA-7E40-B85F-D92BBB62E345}"/>
              </a:ext>
            </a:extLst>
          </p:cNvPr>
          <p:cNvSpPr txBox="1"/>
          <p:nvPr/>
        </p:nvSpPr>
        <p:spPr>
          <a:xfrm>
            <a:off x="714375" y="1676400"/>
            <a:ext cx="2190750" cy="40005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400">
                <a:solidFill>
                  <a:srgbClr val="2C3E5A"/>
                </a:solidFill>
                <a:latin typeface="Arial"/>
                <a:cs typeface="Arial"/>
              </a:rPr>
              <a:t>React.js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F5BEA823-10B5-244E-AB9A-D62E85ACB80D}"/>
              </a:ext>
            </a:extLst>
          </p:cNvPr>
          <p:cNvSpPr/>
          <p:nvPr/>
        </p:nvSpPr>
        <p:spPr>
          <a:xfrm>
            <a:off x="571500" y="2266950"/>
            <a:ext cx="2476500" cy="552450"/>
          </a:xfrm>
          <a:prstGeom prst="roundRect">
            <a:avLst/>
          </a:prstGeom>
          <a:solidFill>
            <a:srgbClr val="F5F6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5A0540-54FD-034D-A290-FBD1AE231D12}"/>
              </a:ext>
            </a:extLst>
          </p:cNvPr>
          <p:cNvSpPr txBox="1"/>
          <p:nvPr/>
        </p:nvSpPr>
        <p:spPr>
          <a:xfrm>
            <a:off x="714375" y="2343150"/>
            <a:ext cx="2190750" cy="40005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400">
                <a:solidFill>
                  <a:srgbClr val="2C3E5A"/>
                </a:solidFill>
                <a:latin typeface="Arial"/>
                <a:cs typeface="Arial"/>
              </a:rPr>
              <a:t>CSS3 / Responsive Design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1C2BB3E4-13AC-7545-B79B-237747E1405F}"/>
              </a:ext>
            </a:extLst>
          </p:cNvPr>
          <p:cNvSpPr/>
          <p:nvPr/>
        </p:nvSpPr>
        <p:spPr>
          <a:xfrm>
            <a:off x="571500" y="2933700"/>
            <a:ext cx="2476500" cy="552450"/>
          </a:xfrm>
          <a:prstGeom prst="roundRect">
            <a:avLst/>
          </a:prstGeom>
          <a:solidFill>
            <a:srgbClr val="F5F6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A29DA14-EED2-B24F-84B8-358677FD0272}"/>
              </a:ext>
            </a:extLst>
          </p:cNvPr>
          <p:cNvSpPr txBox="1"/>
          <p:nvPr/>
        </p:nvSpPr>
        <p:spPr>
          <a:xfrm>
            <a:off x="714375" y="3009900"/>
            <a:ext cx="2190750" cy="40005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400">
                <a:solidFill>
                  <a:srgbClr val="2C3E5A"/>
                </a:solidFill>
                <a:latin typeface="Arial"/>
                <a:cs typeface="Arial"/>
              </a:rPr>
              <a:t>SVG Data Visualization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26A61798-FE78-544D-9F35-F3E62A557CF9}"/>
              </a:ext>
            </a:extLst>
          </p:cNvPr>
          <p:cNvSpPr/>
          <p:nvPr/>
        </p:nvSpPr>
        <p:spPr>
          <a:xfrm>
            <a:off x="571500" y="3600450"/>
            <a:ext cx="2476500" cy="552450"/>
          </a:xfrm>
          <a:prstGeom prst="roundRect">
            <a:avLst/>
          </a:prstGeom>
          <a:solidFill>
            <a:srgbClr val="F5F6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4085E37-B073-BC43-87E7-29880CDF5615}"/>
              </a:ext>
            </a:extLst>
          </p:cNvPr>
          <p:cNvSpPr txBox="1"/>
          <p:nvPr/>
        </p:nvSpPr>
        <p:spPr>
          <a:xfrm>
            <a:off x="714375" y="3676650"/>
            <a:ext cx="2190750" cy="40005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400">
                <a:solidFill>
                  <a:srgbClr val="2C3E5A"/>
                </a:solidFill>
                <a:latin typeface="Arial"/>
                <a:cs typeface="Arial"/>
              </a:rPr>
              <a:t>Supabase Authentication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AFD616E5-AD52-AF4D-A705-88491ADA22BE}"/>
              </a:ext>
            </a:extLst>
          </p:cNvPr>
          <p:cNvSpPr/>
          <p:nvPr/>
        </p:nvSpPr>
        <p:spPr>
          <a:xfrm>
            <a:off x="3333750" y="1123950"/>
            <a:ext cx="2476500" cy="381000"/>
          </a:xfrm>
          <a:prstGeom prst="roundRect">
            <a:avLst/>
          </a:prstGeom>
          <a:solidFill>
            <a:srgbClr val="00355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rial"/>
              </a:rPr>
              <a:t>Backend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5BB86582-6D82-1E43-AA0B-70AA0A9B82F6}"/>
              </a:ext>
            </a:extLst>
          </p:cNvPr>
          <p:cNvSpPr/>
          <p:nvPr/>
        </p:nvSpPr>
        <p:spPr>
          <a:xfrm>
            <a:off x="3333750" y="1600200"/>
            <a:ext cx="2476500" cy="552450"/>
          </a:xfrm>
          <a:prstGeom prst="roundRect">
            <a:avLst/>
          </a:prstGeom>
          <a:solidFill>
            <a:srgbClr val="F5F6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D8BBB2F-EC33-6345-9DDD-216105B98918}"/>
              </a:ext>
            </a:extLst>
          </p:cNvPr>
          <p:cNvSpPr txBox="1"/>
          <p:nvPr/>
        </p:nvSpPr>
        <p:spPr>
          <a:xfrm>
            <a:off x="3476625" y="1676400"/>
            <a:ext cx="2190750" cy="40005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400">
                <a:solidFill>
                  <a:srgbClr val="2C3E5A"/>
                </a:solidFill>
                <a:latin typeface="Arial"/>
                <a:cs typeface="Arial"/>
              </a:rPr>
              <a:t>Java / Spring Boot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C188FB57-89E3-3242-A6AD-A55F455AE664}"/>
              </a:ext>
            </a:extLst>
          </p:cNvPr>
          <p:cNvSpPr/>
          <p:nvPr/>
        </p:nvSpPr>
        <p:spPr>
          <a:xfrm>
            <a:off x="3333750" y="2266950"/>
            <a:ext cx="2476500" cy="552450"/>
          </a:xfrm>
          <a:prstGeom prst="roundRect">
            <a:avLst/>
          </a:prstGeom>
          <a:solidFill>
            <a:srgbClr val="F5F6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83EA81E-130C-E04D-B487-96E36CD92332}"/>
              </a:ext>
            </a:extLst>
          </p:cNvPr>
          <p:cNvSpPr txBox="1"/>
          <p:nvPr/>
        </p:nvSpPr>
        <p:spPr>
          <a:xfrm>
            <a:off x="3476625" y="2343150"/>
            <a:ext cx="2190750" cy="40005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400">
                <a:solidFill>
                  <a:srgbClr val="2C3E5A"/>
                </a:solidFill>
                <a:latin typeface="Arial"/>
                <a:cs typeface="Arial"/>
              </a:rPr>
              <a:t>RESTful API Architecture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2E670A02-9640-BF48-A8E3-E239A5FC897D}"/>
              </a:ext>
            </a:extLst>
          </p:cNvPr>
          <p:cNvSpPr/>
          <p:nvPr/>
        </p:nvSpPr>
        <p:spPr>
          <a:xfrm>
            <a:off x="3333750" y="2933700"/>
            <a:ext cx="2476500" cy="552450"/>
          </a:xfrm>
          <a:prstGeom prst="roundRect">
            <a:avLst/>
          </a:prstGeom>
          <a:solidFill>
            <a:srgbClr val="F5F6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1418E8C-F8A3-FF47-9B4B-87D7BA732C91}"/>
              </a:ext>
            </a:extLst>
          </p:cNvPr>
          <p:cNvSpPr txBox="1"/>
          <p:nvPr/>
        </p:nvSpPr>
        <p:spPr>
          <a:xfrm>
            <a:off x="3476625" y="3009900"/>
            <a:ext cx="2190750" cy="40005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400">
                <a:solidFill>
                  <a:srgbClr val="2C3E5A"/>
                </a:solidFill>
                <a:latin typeface="Arial"/>
                <a:cs typeface="Arial"/>
              </a:rPr>
              <a:t>AI Integration Layer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FD9DB685-C4A6-8446-9AA8-BDEAB6D24765}"/>
              </a:ext>
            </a:extLst>
          </p:cNvPr>
          <p:cNvSpPr/>
          <p:nvPr/>
        </p:nvSpPr>
        <p:spPr>
          <a:xfrm>
            <a:off x="3333750" y="3600450"/>
            <a:ext cx="2476500" cy="552450"/>
          </a:xfrm>
          <a:prstGeom prst="roundRect">
            <a:avLst/>
          </a:prstGeom>
          <a:solidFill>
            <a:srgbClr val="F5F6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2633259-3A61-B34F-AF2D-F71070DA9C4C}"/>
              </a:ext>
            </a:extLst>
          </p:cNvPr>
          <p:cNvSpPr txBox="1"/>
          <p:nvPr/>
        </p:nvSpPr>
        <p:spPr>
          <a:xfrm>
            <a:off x="3476625" y="3676650"/>
            <a:ext cx="2190750" cy="40005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400">
                <a:solidFill>
                  <a:srgbClr val="2C3E5A"/>
                </a:solidFill>
                <a:latin typeface="Arial"/>
                <a:cs typeface="Arial"/>
              </a:rPr>
              <a:t>Newton Analytics Engine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C6F90BFE-DC93-8943-9125-72004638FB54}"/>
              </a:ext>
            </a:extLst>
          </p:cNvPr>
          <p:cNvSpPr/>
          <p:nvPr/>
        </p:nvSpPr>
        <p:spPr>
          <a:xfrm>
            <a:off x="6096000" y="1123950"/>
            <a:ext cx="2476500" cy="381000"/>
          </a:xfrm>
          <a:prstGeom prst="roundRect">
            <a:avLst/>
          </a:prstGeom>
          <a:solidFill>
            <a:srgbClr val="00355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rial"/>
              </a:rPr>
              <a:t>Data Layer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1838BE30-5523-8647-9B14-0B033E54B082}"/>
              </a:ext>
            </a:extLst>
          </p:cNvPr>
          <p:cNvSpPr/>
          <p:nvPr/>
        </p:nvSpPr>
        <p:spPr>
          <a:xfrm>
            <a:off x="6096000" y="1600200"/>
            <a:ext cx="2476500" cy="552450"/>
          </a:xfrm>
          <a:prstGeom prst="roundRect">
            <a:avLst/>
          </a:prstGeom>
          <a:solidFill>
            <a:srgbClr val="F5F6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9BD88A0-8C87-3349-8118-11E57A8EA0D6}"/>
              </a:ext>
            </a:extLst>
          </p:cNvPr>
          <p:cNvSpPr txBox="1"/>
          <p:nvPr/>
        </p:nvSpPr>
        <p:spPr>
          <a:xfrm>
            <a:off x="6238875" y="1676400"/>
            <a:ext cx="2190750" cy="40005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400">
                <a:solidFill>
                  <a:srgbClr val="2C3E5A"/>
                </a:solidFill>
                <a:latin typeface="Arial"/>
                <a:cs typeface="Arial"/>
              </a:rPr>
              <a:t>Supabase / PostgreSQL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08523825-2AA6-DA40-A9DC-5E39B55C0C9C}"/>
              </a:ext>
            </a:extLst>
          </p:cNvPr>
          <p:cNvSpPr/>
          <p:nvPr/>
        </p:nvSpPr>
        <p:spPr>
          <a:xfrm>
            <a:off x="6096000" y="2266950"/>
            <a:ext cx="2476500" cy="552450"/>
          </a:xfrm>
          <a:prstGeom prst="roundRect">
            <a:avLst/>
          </a:prstGeom>
          <a:solidFill>
            <a:srgbClr val="F5F6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139FF07-E440-6749-B0CD-CCE30AF80123}"/>
              </a:ext>
            </a:extLst>
          </p:cNvPr>
          <p:cNvSpPr txBox="1"/>
          <p:nvPr/>
        </p:nvSpPr>
        <p:spPr>
          <a:xfrm>
            <a:off x="6238875" y="2343150"/>
            <a:ext cx="2190750" cy="40005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400">
                <a:solidFill>
                  <a:srgbClr val="2C3E5A"/>
                </a:solidFill>
                <a:latin typeface="Arial"/>
                <a:cs typeface="Arial"/>
              </a:rPr>
              <a:t>FRED Economic Data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F484C7D3-238A-F945-A67F-F7C388174D15}"/>
              </a:ext>
            </a:extLst>
          </p:cNvPr>
          <p:cNvSpPr/>
          <p:nvPr/>
        </p:nvSpPr>
        <p:spPr>
          <a:xfrm>
            <a:off x="6096000" y="2933700"/>
            <a:ext cx="2476500" cy="552450"/>
          </a:xfrm>
          <a:prstGeom prst="roundRect">
            <a:avLst/>
          </a:prstGeom>
          <a:solidFill>
            <a:srgbClr val="F5F6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71BA7BD-A567-C342-9D31-D5DB48AA8F5A}"/>
              </a:ext>
            </a:extLst>
          </p:cNvPr>
          <p:cNvSpPr txBox="1"/>
          <p:nvPr/>
        </p:nvSpPr>
        <p:spPr>
          <a:xfrm>
            <a:off x="6238875" y="3009900"/>
            <a:ext cx="2190750" cy="40005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400">
                <a:solidFill>
                  <a:srgbClr val="2C3E5A"/>
                </a:solidFill>
                <a:latin typeface="Arial"/>
                <a:cs typeface="Arial"/>
              </a:rPr>
              <a:t>Alpha Vantage Market API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4D5B305F-7361-5C4B-AEB9-1B214E2938A6}"/>
              </a:ext>
            </a:extLst>
          </p:cNvPr>
          <p:cNvSpPr/>
          <p:nvPr/>
        </p:nvSpPr>
        <p:spPr>
          <a:xfrm>
            <a:off x="6096000" y="3600450"/>
            <a:ext cx="2476500" cy="552450"/>
          </a:xfrm>
          <a:prstGeom prst="roundRect">
            <a:avLst/>
          </a:prstGeom>
          <a:solidFill>
            <a:srgbClr val="F5F6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74168D6-DF05-2C46-9635-C2941955CBF1}"/>
              </a:ext>
            </a:extLst>
          </p:cNvPr>
          <p:cNvSpPr txBox="1"/>
          <p:nvPr/>
        </p:nvSpPr>
        <p:spPr>
          <a:xfrm>
            <a:off x="6238875" y="3676650"/>
            <a:ext cx="2190750" cy="40005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400">
                <a:solidFill>
                  <a:srgbClr val="2C3E5A"/>
                </a:solidFill>
                <a:latin typeface="Arial"/>
                <a:cs typeface="Arial"/>
              </a:rPr>
              <a:t>Real-time Data Pipeline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110E9D2-6411-E241-B7E4-B37370051345}"/>
              </a:ext>
            </a:extLst>
          </p:cNvPr>
          <p:cNvSpPr txBox="1"/>
          <p:nvPr/>
        </p:nvSpPr>
        <p:spPr>
          <a:xfrm>
            <a:off x="8826500" y="4762500"/>
            <a:ext cx="3175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7399C6"/>
                </a:solidFill>
                <a:latin typeface="Arial"/>
                <a:cs typeface="Arial"/>
              </a:rPr>
              <a:t>8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DE21F34-CACF-CA68-6771-726444C34F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342900"/>
            <a:ext cx="698500" cy="392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20552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415466-6CA7-7C45-BEB0-324A9A702CA8}"/>
              </a:ext>
            </a:extLst>
          </p:cNvPr>
          <p:cNvSpPr txBox="1"/>
          <p:nvPr/>
        </p:nvSpPr>
        <p:spPr>
          <a:xfrm>
            <a:off x="381000" y="342900"/>
            <a:ext cx="3810000" cy="43088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buNone/>
            </a:pPr>
            <a:r>
              <a:rPr lang="en-US" sz="2200" b="1" dirty="0">
                <a:solidFill>
                  <a:srgbClr val="00355F"/>
                </a:solidFill>
                <a:latin typeface="Arial"/>
              </a:rPr>
              <a:t>Key Learnings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09DF7DD-18E4-8246-A89C-1FE85CD923A6}"/>
              </a:ext>
            </a:extLst>
          </p:cNvPr>
          <p:cNvSpPr/>
          <p:nvPr/>
        </p:nvSpPr>
        <p:spPr>
          <a:xfrm>
            <a:off x="571500" y="1143000"/>
            <a:ext cx="3905250" cy="1428750"/>
          </a:xfrm>
          <a:prstGeom prst="roundRect">
            <a:avLst/>
          </a:prstGeom>
          <a:solidFill>
            <a:srgbClr val="F5F6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0136D6F-324E-CA45-BB9B-406EE7712A8C}"/>
              </a:ext>
            </a:extLst>
          </p:cNvPr>
          <p:cNvSpPr/>
          <p:nvPr/>
        </p:nvSpPr>
        <p:spPr>
          <a:xfrm>
            <a:off x="714375" y="1314450"/>
            <a:ext cx="38100" cy="333375"/>
          </a:xfrm>
          <a:prstGeom prst="rect">
            <a:avLst/>
          </a:prstGeom>
          <a:solidFill>
            <a:srgbClr val="7399C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27ECCB-7C1C-AB4A-810A-0BE219EDE5EA}"/>
              </a:ext>
            </a:extLst>
          </p:cNvPr>
          <p:cNvSpPr txBox="1"/>
          <p:nvPr/>
        </p:nvSpPr>
        <p:spPr>
          <a:xfrm>
            <a:off x="857250" y="1285875"/>
            <a:ext cx="3429000" cy="28575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0A1628"/>
                </a:solidFill>
                <a:latin typeface="Arial"/>
              </a:rPr>
              <a:t>Full-Stack Engineering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C97257-1114-804B-9675-EE766B31BABB}"/>
              </a:ext>
            </a:extLst>
          </p:cNvPr>
          <p:cNvSpPr txBox="1"/>
          <p:nvPr/>
        </p:nvSpPr>
        <p:spPr>
          <a:xfrm>
            <a:off x="857250" y="1666875"/>
            <a:ext cx="3429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6B8299"/>
                </a:solidFill>
                <a:latin typeface="Arial"/>
                <a:cs typeface="Arial"/>
              </a:rPr>
              <a:t>Built production-grade system from React frontend through Spring Boot APIs to PostgreSQL data layer.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F0F6075-0F88-FC43-A194-84467C0B7DA7}"/>
              </a:ext>
            </a:extLst>
          </p:cNvPr>
          <p:cNvSpPr/>
          <p:nvPr/>
        </p:nvSpPr>
        <p:spPr>
          <a:xfrm>
            <a:off x="4810125" y="1143000"/>
            <a:ext cx="3905250" cy="1428750"/>
          </a:xfrm>
          <a:prstGeom prst="roundRect">
            <a:avLst/>
          </a:prstGeom>
          <a:solidFill>
            <a:srgbClr val="F5F6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F98BC02-8C20-6142-9356-79058066C3A3}"/>
              </a:ext>
            </a:extLst>
          </p:cNvPr>
          <p:cNvSpPr/>
          <p:nvPr/>
        </p:nvSpPr>
        <p:spPr>
          <a:xfrm>
            <a:off x="4953000" y="1314450"/>
            <a:ext cx="38100" cy="333375"/>
          </a:xfrm>
          <a:prstGeom prst="rect">
            <a:avLst/>
          </a:prstGeom>
          <a:solidFill>
            <a:srgbClr val="7399C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57CCA5B-5976-E740-96C7-F0CF883F321A}"/>
              </a:ext>
            </a:extLst>
          </p:cNvPr>
          <p:cNvSpPr txBox="1"/>
          <p:nvPr/>
        </p:nvSpPr>
        <p:spPr>
          <a:xfrm>
            <a:off x="5095875" y="1285875"/>
            <a:ext cx="3429000" cy="28575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0A1628"/>
                </a:solidFill>
                <a:latin typeface="Arial"/>
              </a:rPr>
              <a:t>Financial Modeling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F81AB11-DD21-4242-A623-2D2EC7818615}"/>
              </a:ext>
            </a:extLst>
          </p:cNvPr>
          <p:cNvSpPr txBox="1"/>
          <p:nvPr/>
        </p:nvSpPr>
        <p:spPr>
          <a:xfrm>
            <a:off x="5095875" y="1666875"/>
            <a:ext cx="3429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6B8299"/>
                </a:solidFill>
                <a:latin typeface="Arial"/>
                <a:cs typeface="Arial"/>
              </a:rPr>
              <a:t>Implemented CAPM with continuous compounding, translating academic finance into practical software.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AE419554-7F6C-8C4F-8AAF-C1D34035A500}"/>
              </a:ext>
            </a:extLst>
          </p:cNvPr>
          <p:cNvSpPr/>
          <p:nvPr/>
        </p:nvSpPr>
        <p:spPr>
          <a:xfrm>
            <a:off x="571500" y="2762250"/>
            <a:ext cx="3905250" cy="1428750"/>
          </a:xfrm>
          <a:prstGeom prst="roundRect">
            <a:avLst/>
          </a:prstGeom>
          <a:solidFill>
            <a:srgbClr val="F5F6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21BDC1E-42E6-D940-AFAE-C7FD23289BB1}"/>
              </a:ext>
            </a:extLst>
          </p:cNvPr>
          <p:cNvSpPr/>
          <p:nvPr/>
        </p:nvSpPr>
        <p:spPr>
          <a:xfrm>
            <a:off x="714375" y="2933700"/>
            <a:ext cx="38100" cy="333375"/>
          </a:xfrm>
          <a:prstGeom prst="rect">
            <a:avLst/>
          </a:prstGeom>
          <a:solidFill>
            <a:srgbClr val="7399C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FBA6D19-866D-D94C-86C0-D78429908E81}"/>
              </a:ext>
            </a:extLst>
          </p:cNvPr>
          <p:cNvSpPr txBox="1"/>
          <p:nvPr/>
        </p:nvSpPr>
        <p:spPr>
          <a:xfrm>
            <a:off x="857250" y="2905125"/>
            <a:ext cx="3429000" cy="28575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0A1628"/>
                </a:solidFill>
                <a:latin typeface="Arial"/>
              </a:rPr>
              <a:t>API Integration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805D6F9-4D1D-BB42-AC78-9880EAACEB43}"/>
              </a:ext>
            </a:extLst>
          </p:cNvPr>
          <p:cNvSpPr txBox="1"/>
          <p:nvPr/>
        </p:nvSpPr>
        <p:spPr>
          <a:xfrm>
            <a:off x="857250" y="3286125"/>
            <a:ext cx="3429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6B8299"/>
                </a:solidFill>
                <a:latin typeface="Arial"/>
                <a:cs typeface="Arial"/>
              </a:rPr>
              <a:t>Connected multiple external data sources including FRED, Alpha Vantage, and Newton Analytics.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D66A5564-90E1-7944-9B60-06C989FC487E}"/>
              </a:ext>
            </a:extLst>
          </p:cNvPr>
          <p:cNvSpPr/>
          <p:nvPr/>
        </p:nvSpPr>
        <p:spPr>
          <a:xfrm>
            <a:off x="4810125" y="2762250"/>
            <a:ext cx="3905250" cy="1428750"/>
          </a:xfrm>
          <a:prstGeom prst="roundRect">
            <a:avLst/>
          </a:prstGeom>
          <a:solidFill>
            <a:srgbClr val="F5F6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AB9E0D3-BD39-DF46-9DF3-635868F3C30D}"/>
              </a:ext>
            </a:extLst>
          </p:cNvPr>
          <p:cNvSpPr/>
          <p:nvPr/>
        </p:nvSpPr>
        <p:spPr>
          <a:xfrm>
            <a:off x="4953000" y="2933700"/>
            <a:ext cx="38100" cy="333375"/>
          </a:xfrm>
          <a:prstGeom prst="rect">
            <a:avLst/>
          </a:prstGeom>
          <a:solidFill>
            <a:srgbClr val="7399C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DC1EF23-DE41-A344-A17E-0C916FB02D43}"/>
              </a:ext>
            </a:extLst>
          </p:cNvPr>
          <p:cNvSpPr txBox="1"/>
          <p:nvPr/>
        </p:nvSpPr>
        <p:spPr>
          <a:xfrm>
            <a:off x="5095875" y="2905125"/>
            <a:ext cx="3429000" cy="28575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0A1628"/>
                </a:solidFill>
                <a:latin typeface="Arial"/>
              </a:rPr>
              <a:t>AI and Cloud Architecture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03E2D7E-441A-B541-A52F-9F1533643F81}"/>
              </a:ext>
            </a:extLst>
          </p:cNvPr>
          <p:cNvSpPr txBox="1"/>
          <p:nvPr/>
        </p:nvSpPr>
        <p:spPr>
          <a:xfrm>
            <a:off x="5095875" y="3286125"/>
            <a:ext cx="3429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6B8299"/>
                </a:solidFill>
                <a:latin typeface="Arial"/>
                <a:cs typeface="Arial"/>
              </a:rPr>
              <a:t>Deployed AI recommendation engine with Supabase cloud infrastructure for scalable performance.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1ECDC75-758A-AB4F-A0DB-ADE568CC5BD6}"/>
              </a:ext>
            </a:extLst>
          </p:cNvPr>
          <p:cNvSpPr txBox="1"/>
          <p:nvPr/>
        </p:nvSpPr>
        <p:spPr>
          <a:xfrm>
            <a:off x="8826500" y="4762500"/>
            <a:ext cx="3175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7399C6"/>
                </a:solidFill>
                <a:latin typeface="Arial"/>
                <a:cs typeface="Arial"/>
              </a:rPr>
              <a:t>9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257D03B-F60A-1027-B680-08DF9C45D6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342900"/>
            <a:ext cx="698500" cy="392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64182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407064E-ED88-B240-B2A5-E54364624C80}"/>
              </a:ext>
            </a:extLst>
          </p:cNvPr>
          <p:cNvSpPr/>
          <p:nvPr/>
        </p:nvSpPr>
        <p:spPr>
          <a:xfrm>
            <a:off x="0" y="0"/>
            <a:ext cx="3619500" cy="5143500"/>
          </a:xfrm>
          <a:prstGeom prst="rect">
            <a:avLst/>
          </a:prstGeom>
          <a:solidFill>
            <a:srgbClr val="00355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19847AB-FC74-CB47-84F3-D6F222D5CCCE}"/>
              </a:ext>
            </a:extLst>
          </p:cNvPr>
          <p:cNvSpPr/>
          <p:nvPr/>
        </p:nvSpPr>
        <p:spPr>
          <a:xfrm>
            <a:off x="3600450" y="571500"/>
            <a:ext cx="19050" cy="4000500"/>
          </a:xfrm>
          <a:prstGeom prst="rect">
            <a:avLst/>
          </a:prstGeom>
          <a:solidFill>
            <a:srgbClr val="7399C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7E86FA-DD31-284F-8990-CBC4E8EE8126}"/>
              </a:ext>
            </a:extLst>
          </p:cNvPr>
          <p:cNvSpPr txBox="1"/>
          <p:nvPr/>
        </p:nvSpPr>
        <p:spPr>
          <a:xfrm>
            <a:off x="381000" y="1619250"/>
            <a:ext cx="28575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>
                <a:solidFill>
                  <a:srgbClr val="FFFFFF"/>
                </a:solidFill>
                <a:latin typeface="Arial"/>
              </a:rPr>
              <a:t>Goldman Sachs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4F35BC-1E8B-1E41-9746-00C979973235}"/>
              </a:ext>
            </a:extLst>
          </p:cNvPr>
          <p:cNvSpPr txBox="1"/>
          <p:nvPr/>
        </p:nvSpPr>
        <p:spPr>
          <a:xfrm>
            <a:off x="381000" y="2047875"/>
            <a:ext cx="2857500" cy="28575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8C9BAA"/>
                </a:solidFill>
                <a:latin typeface="Arial"/>
                <a:cs typeface="Arial"/>
              </a:rPr>
              <a:t>Emerging Leaders Series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F19E7F-C0F3-A44A-99E6-DD90B8F5A97E}"/>
              </a:ext>
            </a:extLst>
          </p:cNvPr>
          <p:cNvSpPr txBox="1"/>
          <p:nvPr/>
        </p:nvSpPr>
        <p:spPr>
          <a:xfrm>
            <a:off x="381000" y="2476500"/>
            <a:ext cx="2857500" cy="23812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6B8299"/>
                </a:solidFill>
                <a:latin typeface="Arial"/>
                <a:cs typeface="Arial"/>
              </a:rPr>
              <a:t>Group 11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F05405-6E08-4447-B964-A8B4E90718BC}"/>
              </a:ext>
            </a:extLst>
          </p:cNvPr>
          <p:cNvSpPr txBox="1"/>
          <p:nvPr/>
        </p:nvSpPr>
        <p:spPr>
          <a:xfrm>
            <a:off x="4000500" y="1333500"/>
            <a:ext cx="4762500" cy="66675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300" b="1">
                <a:solidFill>
                  <a:srgbClr val="0A1628"/>
                </a:solidFill>
                <a:latin typeface="Arial"/>
              </a:rPr>
              <a:t>Thank You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A6B819F-444F-1C4A-B204-F5CA1F0CAC64}"/>
              </a:ext>
            </a:extLst>
          </p:cNvPr>
          <p:cNvSpPr/>
          <p:nvPr/>
        </p:nvSpPr>
        <p:spPr>
          <a:xfrm>
            <a:off x="4000500" y="2047875"/>
            <a:ext cx="952500" cy="23812"/>
          </a:xfrm>
          <a:prstGeom prst="rect">
            <a:avLst/>
          </a:prstGeom>
          <a:solidFill>
            <a:srgbClr val="7399C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392C1F-6EEA-CD4C-95DA-63D1D4885397}"/>
              </a:ext>
            </a:extLst>
          </p:cNvPr>
          <p:cNvSpPr txBox="1"/>
          <p:nvPr/>
        </p:nvSpPr>
        <p:spPr>
          <a:xfrm>
            <a:off x="4000500" y="2238375"/>
            <a:ext cx="4572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>
                <a:solidFill>
                  <a:srgbClr val="2C3E5A"/>
                </a:solidFill>
                <a:latin typeface="Arial"/>
                <a:cs typeface="Arial"/>
              </a:rPr>
              <a:t>Questions and Discussion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E2B544-F909-BB43-B489-758C8285B76A}"/>
              </a:ext>
            </a:extLst>
          </p:cNvPr>
          <p:cNvSpPr txBox="1"/>
          <p:nvPr/>
        </p:nvSpPr>
        <p:spPr>
          <a:xfrm>
            <a:off x="4000500" y="2952750"/>
            <a:ext cx="4572000" cy="33337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i="1">
                <a:solidFill>
                  <a:srgbClr val="6B8299"/>
                </a:solidFill>
                <a:latin typeface="Arial"/>
                <a:cs typeface="Arial"/>
              </a:rPr>
              <a:t>Mutual Fund Calculator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B02555F-6639-4E4D-BCB3-D9D60B45E9B5}"/>
              </a:ext>
            </a:extLst>
          </p:cNvPr>
          <p:cNvSpPr txBox="1"/>
          <p:nvPr/>
        </p:nvSpPr>
        <p:spPr>
          <a:xfrm>
            <a:off x="8737600" y="4699000"/>
            <a:ext cx="381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r">
              <a:buNone/>
            </a:pPr>
            <a:r>
              <a:rPr lang="en-US" sz="1400" dirty="0">
                <a:solidFill>
                  <a:srgbClr val="7399C6"/>
                </a:solidFill>
                <a:latin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8894038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75064494410]">
  <a:themeElements>
    <a:clrScheme name="Goldman Sachs">
      <a:dk1>
        <a:srgbClr val="00355F"/>
      </a:dk1>
      <a:lt1>
        <a:srgbClr val="FFFFFF"/>
      </a:lt1>
      <a:dk2>
        <a:srgbClr val="231F20"/>
      </a:dk2>
      <a:lt2>
        <a:srgbClr val="ACD4F1"/>
      </a:lt2>
      <a:accent1>
        <a:srgbClr val="7399C6"/>
      </a:accent1>
      <a:accent2>
        <a:srgbClr val="00355F"/>
      </a:accent2>
      <a:accent3>
        <a:srgbClr val="ACD4F1"/>
      </a:accent3>
      <a:accent4>
        <a:srgbClr val="58575A"/>
      </a:accent4>
      <a:accent5>
        <a:srgbClr val="231F20"/>
      </a:accent5>
      <a:accent6>
        <a:srgbClr val="7399C6"/>
      </a:accent6>
      <a:hlink>
        <a:srgbClr val="0563C1"/>
      </a:hlink>
      <a:folHlink>
        <a:srgbClr val="954F72"/>
      </a:folHlink>
    </a:clrScheme>
    <a:fontScheme name="Goldman Sachs">
      <a:majorFont>
        <a:latin typeface="Arial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8A14E77-482D-DA4C-A1C7-9EE724F7DEDA}">
  <we:reference id="wa200010001" version="1.0.0.1" store="en-US" storeType="OMEX"/>
  <we:alternateReferences>
    <we:reference id="wa200010001" version="1.0.0.1" store="en-US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518</Words>
  <Application>Microsoft Macintosh PowerPoint</Application>
  <PresentationFormat>On-screen Show (16:9)</PresentationFormat>
  <Paragraphs>131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3" baseType="lpstr">
      <vt:lpstr>Arial</vt:lpstr>
      <vt:lpstr>Office Theme [1775064494410]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Mutual Fund Calculator</dc:title>
  <dc:subject>PptxGenJS Presentation</dc:subject>
  <dc:creator>Goldman ELS Group 11</dc:creator>
  <cp:lastModifiedBy>Aarsh Roongta</cp:lastModifiedBy>
  <cp:revision>12</cp:revision>
  <dcterms:created xsi:type="dcterms:W3CDTF">2026-04-01T16:40:32Z</dcterms:created>
  <dcterms:modified xsi:type="dcterms:W3CDTF">2026-04-01T17:50:33Z</dcterms:modified>
</cp:coreProperties>
</file>